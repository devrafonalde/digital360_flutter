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9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273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6949440" cy="6949440"/>
          </a:xfrm>
          <a:prstGeom prst="ellipse">
            <a:avLst/>
          </a:prstGeom>
          <a:solidFill>
            <a:srgbClr val="23232F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023360" cy="4023360"/>
          </a:xfrm>
          <a:prstGeom prst="ellipse">
            <a:avLst/>
          </a:prstGeom>
          <a:solidFill>
            <a:srgbClr val="1A1A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 ·  PROJETO ANUAL — SOCIEDADE 5.0  · 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360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 — AI Logistics Extension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677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 —  Back-end Spring Boot + Dashboard Angular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71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github.com/DevRafonalde/digital360_flutter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73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 </a:t>
            </a:r>
            <a:r>
              <a:rPr lang="en-US" sz="130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YouTube — não listado]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7166" y="4581144"/>
            <a:ext cx="941832" cy="94183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42" y="4617720"/>
            <a:ext cx="868680" cy="868680"/>
          </a:xfrm>
          <a:prstGeom prst="ellipse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21792" y="5577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Andrade Martins Vasques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5998464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556970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06049" y="4581144"/>
            <a:ext cx="941832" cy="94183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625" y="4617720"/>
            <a:ext cx="868680" cy="868680"/>
          </a:xfrm>
          <a:prstGeom prst="ellipse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40675" y="5577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Otávio Ramos dos Santos Souza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2840675" y="5998464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550361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24932" y="4581144"/>
            <a:ext cx="941832" cy="94183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508" y="4617720"/>
            <a:ext cx="868680" cy="868680"/>
          </a:xfrm>
          <a:prstGeom prst="ellipse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59558" y="5577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 Miranda Ward de Paiva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5059558" y="5998464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557632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843815" y="4581144"/>
            <a:ext cx="941832" cy="94183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391" y="4617720"/>
            <a:ext cx="868680" cy="868680"/>
          </a:xfrm>
          <a:prstGeom prst="ellipse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78441" y="5577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Pinto de Albuquerque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7278441" y="5998464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559136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0062698" y="4581144"/>
            <a:ext cx="941832" cy="941832"/>
          </a:xfrm>
          <a:prstGeom prst="ellipse">
            <a:avLst/>
          </a:prstGeom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274" y="4617720"/>
            <a:ext cx="868680" cy="868680"/>
          </a:xfrm>
          <a:prstGeom prst="ellipse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497324" y="5577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Leoni Vidigal Tibúrcio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9497324" y="5998464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557500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existe, antes desta fase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6309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360</a:t>
            </a:r>
            <a:r>
              <a:rPr lang="en-US" sz="14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o app de inclusão digital para idosos e público com baixo letramento — trilhas de aprendizagem, guia de serviços públicos e um assistente de dúvidas.
</a:t>
            </a:r>
            <a:r>
              <a:rPr lang="en-US" sz="14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</a:t>
            </a:r>
            <a:r>
              <a:rPr lang="en-US" sz="14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 a camada construída com a Leroy Merlin no Enterprise Challenge: risco de entrega, recomendação e detecção de picos de demanda.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back-ends reais (Python + Java), 1 dashboard administrativo e 1 app Flutter maduro compõem o ecossistema Smart HAS hoje.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4327855" cy="1874520"/>
          </a:xfrm>
          <a:prstGeom prst="roundRect">
            <a:avLst>
              <a:gd name="adj" fmla="val 4878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315200" y="1828800"/>
            <a:ext cx="4327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788920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no backend 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794760"/>
            <a:ext cx="2049628" cy="1188720"/>
          </a:xfrm>
          <a:prstGeom prst="roundRect">
            <a:avLst>
              <a:gd name="adj" fmla="val 6154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315200" y="3913632"/>
            <a:ext cx="2049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480560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Flutter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93428" y="3794760"/>
            <a:ext cx="2049628" cy="1188720"/>
          </a:xfrm>
          <a:prstGeom prst="roundRect">
            <a:avLst>
              <a:gd name="adj" fmla="val 6154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593428" y="3913632"/>
            <a:ext cx="2049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593428" y="4480560"/>
            <a:ext cx="2049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JUSTIFICATIVA DE STACK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manter Flutter,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migrar para React Native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852160" cy="3566160"/>
          </a:xfrm>
          <a:prstGeom prst="roundRect">
            <a:avLst>
              <a:gd name="adj" fmla="val 2564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ganho técnico desta fase vem de profundidade — back-end real completo, dashboard e refactor de configuração — não de trocar o framework de UI.”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0" y="2432304"/>
            <a:ext cx="82296" cy="822960"/>
          </a:xfrm>
          <a:prstGeom prst="rect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7114032" y="2377440"/>
            <a:ext cx="45290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já madura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2697480"/>
            <a:ext cx="4529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Acessibilidade, LGPD e 85 testes automatizados já implementados no Flutter.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3639312"/>
            <a:ext cx="82296" cy="8229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114032" y="3584448"/>
            <a:ext cx="45290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vs. ganho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904488"/>
            <a:ext cx="4529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tudo agora arriscaria regressão sem ganho técnico proporcional.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4846320"/>
            <a:ext cx="82296" cy="822960"/>
          </a:xfrm>
          <a:prstGeom prst="rect">
            <a:avLst/>
          </a:prstGeom>
          <a:solidFill>
            <a:srgbClr val="ED09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114032" y="4791456"/>
            <a:ext cx="45290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esforço rende mais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5111496"/>
            <a:ext cx="45290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Java completo + dashboard administrativo, não a camada de UI.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tecnológico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306269" y="1874520"/>
            <a:ext cx="7579157" cy="0"/>
          </a:xfrm>
          <a:prstGeom prst="line">
            <a:avLst/>
          </a:prstGeom>
          <a:noFill/>
          <a:ln w="1905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223973" y="1828800"/>
            <a:ext cx="164592" cy="164592"/>
          </a:xfrm>
          <a:prstGeom prst="ellipse">
            <a:avLst/>
          </a:prstGeom>
          <a:solidFill>
            <a:srgbClr val="9A9AA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22960" y="2834640"/>
            <a:ext cx="29666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Kotlin → Flutter (Fase 4)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Redesign visual + LGPD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Backend Python real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Comunidade e gamificação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13552" y="1828800"/>
            <a:ext cx="164592" cy="164592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338218" y="21488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— AGORA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8218" y="26060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612538" y="2834640"/>
            <a:ext cx="29666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Backend Java / Spring Boot completo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Angular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Seletor de ambiente no app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03130" y="182880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127797" y="21488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7797" y="260604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8402117" y="2834640"/>
            <a:ext cx="296661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Convergência dos back-ends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Motores de risco/recomendação com ML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Testes JUnit / Karma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BACK-END SPRING BOOT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em camadas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348" y="18288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D1D28"/>
          </a:solidFill>
          <a:ln w="1905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52348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84068" y="18288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04108" y="18288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D1D28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604108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35828" y="18288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55868" y="18288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D1D28"/>
          </a:solidFill>
          <a:ln w="19050">
            <a:solidFill>
              <a:srgbClr val="ED09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255868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587588" y="182880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907628" y="18288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D1D28"/>
          </a:solidFill>
          <a:ln w="19050">
            <a:solidFill>
              <a:srgbClr val="9A9A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907628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  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stateless (access + refresh), perfis ADMIN / USUARIO, autorização por dono do recurso.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&amp; docs   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persistente via Spring Data JPA. Swagger / OpenAPI gerado automaticamente.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  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controllers · 5 motores heurísticos isolados (Risco, Recomendação, Tendência, Rascunho, Gamificação).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rodando de verdade — mvn spring-boot:run + chamadas reais via curl (login, CRUD, risco, comunidade, cuidador, LGPD).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SEGURANÇA E PERSISTÊNCIA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 por perfil e por dono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3232F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8105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catálogo — serviços e pedidos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3232F"/>
          </a:solidFill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48640" y="2624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6517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tudo; escreve o que é seu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3232F"/>
          </a:solidFill>
          <a:ln w="12700">
            <a:solidFill>
              <a:srgbClr val="ED09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48640" y="34655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4930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curso comunitário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3232F"/>
          </a:solidFill>
          <a:ln w="12700">
            <a:solidFill>
              <a:srgbClr val="9A9A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48640" y="430682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do recurso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433425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só as próprias recomendações e gamificação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protegida com BCrypt · validação de entrada · tratamento de erro centralizado no GlobalExceptionHandler.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1783080"/>
            <a:ext cx="5150815" cy="4114800"/>
          </a:xfrm>
          <a:prstGeom prst="roundRect">
            <a:avLst>
              <a:gd name="adj" fmla="val 1778"/>
            </a:avLst>
          </a:prstGeom>
          <a:solidFill>
            <a:srgbClr val="0E0E14"/>
          </a:solidFill>
          <a:ln w="1270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720840" y="1965960"/>
            <a:ext cx="128016" cy="128016"/>
          </a:xfrm>
          <a:prstGeom prst="ellipse">
            <a:avLst/>
          </a:prstGeom>
          <a:solidFill>
            <a:srgbClr val="ED09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976872" y="196596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232904" y="19659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7589520" y="1920240"/>
            <a:ext cx="3870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springdoc-openapi · /swagger-ui.html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240280"/>
            <a:ext cx="5150815" cy="0"/>
          </a:xfrm>
          <a:prstGeom prst="line">
            <a:avLst/>
          </a:prstGeom>
          <a:noFill/>
          <a:ln w="1270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766560" y="2423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2423160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/auth/usuarios/login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29077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2907792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/cursos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3924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35240" y="3392424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/entregas/{id}/recalcular-risco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8770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3877056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/pedidos/{id}/reagendar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3616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09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4361688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/gamificacao/ranking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48463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09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846320"/>
            <a:ext cx="3733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D8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/tendencias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562356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endpoints documentados automaticamente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INTEGRAÇÃO WEB COM ANGULAR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administrativo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interceptor de Bearer token e guard de rota protegendo o painel.
</a:t>
            </a: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Login, Home, Cursos, Serviços, Pedidos — CRUD completo, mais Tendências e Gamificação.
</a:t>
            </a: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interpolação {{ }}, property [ ], event ( ), two-way [( )]; diretivas *ngIf / *ngFor.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783080"/>
            <a:ext cx="5516575" cy="4160520"/>
          </a:xfrm>
          <a:prstGeom prst="roundRect">
            <a:avLst>
              <a:gd name="adj" fmla="val 1758"/>
            </a:avLst>
          </a:prstGeom>
          <a:solidFill>
            <a:srgbClr val="0E0E14"/>
          </a:solidFill>
          <a:ln w="1270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128016" cy="128016"/>
          </a:xfrm>
          <a:prstGeom prst="ellipse">
            <a:avLst/>
          </a:prstGeom>
          <a:solidFill>
            <a:srgbClr val="ED09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611112" y="1965960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67144" y="19659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223760" y="1920240"/>
            <a:ext cx="4236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localhost:4200/pedidos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240280"/>
            <a:ext cx="5516575" cy="0"/>
          </a:xfrm>
          <a:prstGeom prst="line">
            <a:avLst/>
          </a:prstGeom>
          <a:noFill/>
          <a:ln w="1270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1417320" cy="3703320"/>
          </a:xfrm>
          <a:prstGeom prst="rect">
            <a:avLst/>
          </a:prstGeom>
          <a:solidFill>
            <a:srgbClr val="11111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291072" y="24048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HAS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3200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36576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36208" y="4078224"/>
            <a:ext cx="1197864" cy="365760"/>
          </a:xfrm>
          <a:prstGeom prst="roundRect">
            <a:avLst>
              <a:gd name="adj" fmla="val 15000"/>
            </a:avLst>
          </a:prstGeom>
          <a:solidFill>
            <a:srgbClr val="2A18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382512" y="41148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5029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242316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Logistics Extension — Pedidos monitorados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2880360"/>
            <a:ext cx="3550615" cy="438912"/>
          </a:xfrm>
          <a:prstGeom prst="roundRect">
            <a:avLst>
              <a:gd name="adj" fmla="val 12500"/>
            </a:avLst>
          </a:prstGeom>
          <a:solidFill>
            <a:srgbClr val="2323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001000" y="2880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LM-2026-0002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28803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271455" y="28803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818120" y="3447288"/>
            <a:ext cx="3550615" cy="438912"/>
          </a:xfrm>
          <a:prstGeom prst="roundRect">
            <a:avLst>
              <a:gd name="adj" fmla="val 12500"/>
            </a:avLst>
          </a:prstGeom>
          <a:solidFill>
            <a:srgbClr val="2323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8001000" y="34472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LM-2026-0003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34472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271455" y="34472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18120" y="4014216"/>
            <a:ext cx="3550615" cy="438912"/>
          </a:xfrm>
          <a:prstGeom prst="roundRect">
            <a:avLst>
              <a:gd name="adj" fmla="val 12500"/>
            </a:avLst>
          </a:prstGeom>
          <a:solidFill>
            <a:srgbClr val="2323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8001000" y="40142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LM-2026-0004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646920" y="401421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271455" y="401421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608076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recálculo de risco e reagendamento em uma linha, direto na tela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(Swagger) + Dashboard + App, rodando de verdade, sobre a mesma API.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69568" y="2651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D1D28"/>
          </a:solidFill>
          <a:ln w="1905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56956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69568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38448" y="3337560"/>
            <a:ext cx="822960" cy="0"/>
          </a:xfrm>
          <a:prstGeom prst="line">
            <a:avLst/>
          </a:prstGeom>
          <a:noFill/>
          <a:ln w="19050">
            <a:solidFill>
              <a:srgbClr val="33333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61408" y="2651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D1D28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86140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61408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30288" y="3337560"/>
            <a:ext cx="822960" cy="0"/>
          </a:xfrm>
          <a:prstGeom prst="line">
            <a:avLst/>
          </a:prstGeom>
          <a:noFill/>
          <a:ln w="19050">
            <a:solidFill>
              <a:srgbClr val="33333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53248" y="26517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1D1D28"/>
          </a:solidFill>
          <a:ln w="19050">
            <a:solidFill>
              <a:srgbClr val="ED09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15324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53248" y="3364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09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95848" y="4023360"/>
            <a:ext cx="0" cy="685800"/>
          </a:xfrm>
          <a:prstGeom prst="line">
            <a:avLst/>
          </a:prstGeom>
          <a:noFill/>
          <a:ln w="19050">
            <a:solidFill>
              <a:srgbClr val="33333F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907128" y="4709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0E0E14"/>
          </a:solidFill>
          <a:ln w="12700">
            <a:solidFill>
              <a:srgbClr val="3333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90712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9A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REST comum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669280" cy="5669280"/>
          </a:xfrm>
          <a:prstGeom prst="ellipse">
            <a:avLst/>
          </a:prstGeom>
          <a:solidFill>
            <a:srgbClr val="23232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185855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TÉCNICA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498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Lições e limitações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conferido contra o código real
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senhaUser (não senha), regra isTutor — testado contra o app e o backend Python.
</a:t>
            </a: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paralela, não substituição
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 cobre os 33 endpoints; o Python do time continua existindo em paralelo.
</a:t>
            </a:r>
            <a:r>
              <a:rPr lang="en-US" sz="1350" b="1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
</a:t>
            </a:r>
            <a:r>
              <a:rPr lang="en-US" sz="13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final com testes JUnit / Karma, planejado para a próxima rodada.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40880" y="1783080"/>
            <a:ext cx="4602175" cy="1280160"/>
          </a:xfrm>
          <a:prstGeom prst="roundRect">
            <a:avLst>
              <a:gd name="adj" fmla="val 7143"/>
            </a:avLst>
          </a:prstGeom>
          <a:solidFill>
            <a:srgbClr val="1D1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7040880" y="1847088"/>
            <a:ext cx="4602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5146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cobertos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3337560"/>
            <a:ext cx="4602175" cy="1051560"/>
          </a:xfrm>
          <a:prstGeom prst="roundRect">
            <a:avLst>
              <a:gd name="adj" fmla="val 6957"/>
            </a:avLst>
          </a:prstGeom>
          <a:solidFill>
            <a:srgbClr val="2323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269480" y="352044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735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7269480" y="35204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849624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LazyInitializationException ao serializar topicosModulos — corrigida (fetch EAGER)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4572000"/>
            <a:ext cx="4602175" cy="1051560"/>
          </a:xfrm>
          <a:prstGeom prst="roundRect">
            <a:avLst>
              <a:gd name="adj" fmla="val 6957"/>
            </a:avLst>
          </a:prstGeom>
          <a:solidFill>
            <a:srgbClr val="2323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269480" y="47548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735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269480" y="47548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5084064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malformado devolvia 500 em vez de 400 — corrigido no GlobalExceptionHandler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23232F">
              <a:alpha val="6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961120" y="3291840"/>
            <a:ext cx="4937760" cy="4937760"/>
          </a:xfrm>
          <a:prstGeom prst="ellipse">
            <a:avLst/>
          </a:prstGeom>
          <a:solidFill>
            <a:srgbClr val="1A1A2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e inclusão,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andando juntas.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09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r>
              <a:rPr lang="en-US" sz="1300" dirty="0">
                <a:solidFill>
                  <a:srgbClr val="F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github.com/DevRafonalde/digital360_flutter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28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 </a:t>
            </a:r>
            <a:r>
              <a:rPr lang="en-US" sz="1300" i="1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YouTube — não listado]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6E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360 · SMART HAS AI LOGISTICS EXTENSION · FIAP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848</Words>
  <Application>Microsoft Office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Eduardo Andrade Martins Vasques</cp:lastModifiedBy>
  <cp:revision>2</cp:revision>
  <dcterms:created xsi:type="dcterms:W3CDTF">2026-08-28T00:22:33Z</dcterms:created>
  <dcterms:modified xsi:type="dcterms:W3CDTF">2026-08-28T00:33:27Z</dcterms:modified>
</cp:coreProperties>
</file>