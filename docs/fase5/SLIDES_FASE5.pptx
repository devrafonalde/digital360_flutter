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FIAP - MOBILE HYBRID APP E A SOCIEDADE 5.0 - FASE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360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HAS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 Spring Boot + Dashboard Angular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502920" cy="502920"/>
          </a:xfrm>
          <a:prstGeom prst="ellipse">
            <a:avLst/>
          </a:prstGeom>
          <a:solidFill>
            <a:srgbClr val="1C1C28"/>
          </a:solidFill>
          <a:ln w="12700">
            <a:solidFill>
              <a:srgbClr val="77778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25880" y="3118104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Eduardo Andrade Martins Vasques</a:t>
            </a:r>
            <a:pPr indent="0" marL="0">
              <a:buNone/>
            </a:pPr>
            <a:r>
              <a:rPr lang="en-US" sz="13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RM 556970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66744"/>
            <a:ext cx="502920" cy="502920"/>
          </a:xfrm>
          <a:prstGeom prst="ellipse">
            <a:avLst/>
          </a:prstGeom>
          <a:solidFill>
            <a:srgbClr val="1C1C28"/>
          </a:solidFill>
          <a:ln w="12700">
            <a:solidFill>
              <a:srgbClr val="77778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40080" y="36667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325880" y="372160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Otávio Ramos dos Santos Souza</a:t>
            </a:r>
            <a:pPr indent="0" marL="0">
              <a:buNone/>
            </a:pPr>
            <a:r>
              <a:rPr lang="en-US" sz="13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RM 550361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70248"/>
            <a:ext cx="502920" cy="502920"/>
          </a:xfrm>
          <a:prstGeom prst="ellipse">
            <a:avLst/>
          </a:prstGeom>
          <a:solidFill>
            <a:srgbClr val="1C1C28"/>
          </a:solidFill>
          <a:ln w="12700">
            <a:solidFill>
              <a:srgbClr val="77778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40080" y="4270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325880" y="432511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Enzo Miranda Ward de Paiva</a:t>
            </a:r>
            <a:pPr indent="0" marL="0">
              <a:buNone/>
            </a:pPr>
            <a:r>
              <a:rPr lang="en-US" sz="13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RM 557632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873752"/>
            <a:ext cx="502920" cy="502920"/>
          </a:xfrm>
          <a:prstGeom prst="ellipse">
            <a:avLst/>
          </a:prstGeom>
          <a:solidFill>
            <a:srgbClr val="1C1C28"/>
          </a:solidFill>
          <a:ln w="12700">
            <a:solidFill>
              <a:srgbClr val="77778A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40080" y="4873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325880" y="492861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Rafael Pinto de Albuquerque</a:t>
            </a:r>
            <a:pPr indent="0" marL="0">
              <a:buNone/>
            </a:pPr>
            <a:r>
              <a:rPr lang="en-US" sz="13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RM 559136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477256"/>
            <a:ext cx="502920" cy="502920"/>
          </a:xfrm>
          <a:prstGeom prst="ellipse">
            <a:avLst/>
          </a:prstGeom>
          <a:solidFill>
            <a:srgbClr val="1C1C28"/>
          </a:solidFill>
          <a:ln w="12700">
            <a:solidFill>
              <a:srgbClr val="77778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40080" y="54772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325880" y="553212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 Leoni Vidigal Tiburcio</a:t>
            </a:r>
            <a:pPr indent="0" marL="0">
              <a:buNone/>
            </a:pPr>
            <a:r>
              <a:rPr lang="en-US" sz="13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RM 557500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55280" y="105156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1417320"/>
            <a:ext cx="2834640" cy="2834640"/>
          </a:xfrm>
          <a:prstGeom prst="ellipse">
            <a:avLst/>
          </a:prstGeom>
          <a:solidFill>
            <a:srgbClr val="1C1C28"/>
          </a:solidFill>
          <a:ln w="25400">
            <a:solidFill>
              <a:srgbClr val="ED09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1417320"/>
            <a:ext cx="28346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45720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17 - Spring Boot 3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18 - Flutter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1/10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projeto até aqui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360: inclusão digital para idosos e público com baixo letramento digital.</a:t>
            </a:r>
            <a:endParaRPr lang="en-US" sz="15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Logistics Extension: parceria Leroy Merlin, Enterprise Challenge FIAP.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35808"/>
            <a:ext cx="32004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30175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telas Flutter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06240" y="292608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3035808"/>
            <a:ext cx="32004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297680" y="3749040"/>
            <a:ext cx="30175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0" y="292608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3035808"/>
            <a:ext cx="32004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863840" y="3749040"/>
            <a:ext cx="30175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 no backend 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911535" cy="914400"/>
          </a:xfrm>
          <a:prstGeom prst="rect">
            <a:avLst/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663440"/>
            <a:ext cx="54864" cy="914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6344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0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backends reais (Python + Java), 1 dashboard administrativo e 1 app Flutter maduro compõem o ecossistema Smart HAS hoje.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2/10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 DA FASE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Manter e aprimorar o Flutter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091153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já madura: acessibilidade, LGPD e 85 testes automatizados já implementados.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Migrar tudo agora arriscaria regressão sem ganho técnico proporcional.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11535" cy="1188720"/>
          </a:xfrm>
          <a:prstGeom prst="rect">
            <a:avLst/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931920"/>
            <a:ext cx="104543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0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ganho técnico desta fase vem de PROFUNDIDADE (backend real completo + dashboard + refactor de configuração), não de trocar o framework de UI.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3/10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tecnológico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00200"/>
            <a:ext cx="3429000" cy="502920"/>
          </a:xfrm>
          <a:prstGeom prst="rect">
            <a:avLst/>
          </a:prstGeom>
          <a:solidFill>
            <a:srgbClr val="3ECF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0020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Concluído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3026664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Kotlin -&gt; Flutter (Fase 4)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Redesign visual + LGPD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Python real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Comunidade e gamificação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3575304"/>
            <a:ext cx="384048" cy="256032"/>
          </a:xfrm>
          <a:prstGeom prst="rightArrow">
            <a:avLst/>
          </a:prstGeom>
          <a:solidFill>
            <a:srgbClr val="FF6B35"/>
          </a:solidFill>
          <a:ln/>
        </p:spPr>
      </p:sp>
      <p:sp>
        <p:nvSpPr>
          <p:cNvPr id="11" name="Shape 9"/>
          <p:cNvSpPr/>
          <p:nvPr/>
        </p:nvSpPr>
        <p:spPr>
          <a:xfrm>
            <a:off x="4325112" y="16002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600200"/>
            <a:ext cx="3429000" cy="502920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160020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5 (agora)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3026664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Java/Spring Boot completo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Angular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Seletor de ambiente no app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0" y="3575304"/>
            <a:ext cx="384048" cy="256032"/>
          </a:xfrm>
          <a:prstGeom prst="rightArrow">
            <a:avLst/>
          </a:prstGeom>
          <a:solidFill>
            <a:srgbClr val="FF6B35"/>
          </a:solidFill>
          <a:ln/>
        </p:spPr>
      </p:sp>
      <p:sp>
        <p:nvSpPr>
          <p:cNvPr id="16" name="Shape 14"/>
          <p:cNvSpPr/>
          <p:nvPr/>
        </p:nvSpPr>
        <p:spPr>
          <a:xfrm>
            <a:off x="8010144" y="16002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10144" y="1600200"/>
            <a:ext cx="3429000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010144" y="160020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11312" y="2286000"/>
            <a:ext cx="3026664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Convergência dos backends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Motores de risco/recomendação com ML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Testes JUnit/Karma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4/10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 Spring Boot: arquitetura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3788" y="17373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22222E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3788" y="17373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7492" y="1997964"/>
            <a:ext cx="384048" cy="256032"/>
          </a:xfrm>
          <a:prstGeom prst="rightArrow">
            <a:avLst/>
          </a:prstGeom>
          <a:solidFill>
            <a:srgbClr val="FF6B35"/>
          </a:solidFill>
          <a:ln/>
        </p:spPr>
      </p:sp>
      <p:sp>
        <p:nvSpPr>
          <p:cNvPr id="9" name="Shape 7"/>
          <p:cNvSpPr/>
          <p:nvPr/>
        </p:nvSpPr>
        <p:spPr>
          <a:xfrm>
            <a:off x="3695548" y="17373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1C1C28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95548" y="17373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99252" y="1997964"/>
            <a:ext cx="384048" cy="256032"/>
          </a:xfrm>
          <a:prstGeom prst="rightArrow">
            <a:avLst/>
          </a:prstGeom>
          <a:solidFill>
            <a:srgbClr val="FF6B35"/>
          </a:solidFill>
          <a:ln/>
        </p:spPr>
      </p:sp>
      <p:sp>
        <p:nvSpPr>
          <p:cNvPr id="12" name="Shape 10"/>
          <p:cNvSpPr/>
          <p:nvPr/>
        </p:nvSpPr>
        <p:spPr>
          <a:xfrm>
            <a:off x="6347308" y="17373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22222E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7308" y="17373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551012" y="1997964"/>
            <a:ext cx="384048" cy="256032"/>
          </a:xfrm>
          <a:prstGeom prst="rightArrow">
            <a:avLst/>
          </a:prstGeom>
          <a:solidFill>
            <a:srgbClr val="FF6B35"/>
          </a:solidFill>
          <a:ln/>
        </p:spPr>
      </p:sp>
      <p:sp>
        <p:nvSpPr>
          <p:cNvPr id="15" name="Shape 13"/>
          <p:cNvSpPr/>
          <p:nvPr/>
        </p:nvSpPr>
        <p:spPr>
          <a:xfrm>
            <a:off x="8999068" y="17373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1C1C28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9068" y="17373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292608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stateless (access + refresh), perfis ADMIN/USUARIO + autorização por dono do recurso</a:t>
            </a:r>
            <a:endParaRPr lang="en-US" sz="145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H2 persistente, Swagger/OpenAPI automático</a:t>
            </a:r>
            <a:endParaRPr lang="en-US" sz="145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controllers, 5 motores heurísticos isolados (Risco, Recomendação, Tendência, Rascunho, Gamificação)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10911535" cy="914400"/>
          </a:xfrm>
          <a:prstGeom prst="rect">
            <a:avLst/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5120640"/>
            <a:ext cx="54864" cy="914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2064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0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Validado rodando de verdade: mvn spring-boot:run + chamadas reais via curl (login, CRUD, risco, comunidade, cuidador, LGPD).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5/10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Back-end: segurança e persistência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5760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Autenticação stateless, senha com BCrypt.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Persistência real (H2 + JPA), validação de entrada, tratamento de erro padronizado.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endpoints: núcleo AI Logistics + comunidade, gamificação, cuidador, LGPD.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0" y="155448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95160" y="1691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Autorização por perfil e por dono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95160" y="2148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Escreve catálogo (serviços, pedidos)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95160" y="255117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USUARIO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Lê tudo; escreve o que é seu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95351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isTutor=true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Publica curso comunitário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995160" y="335584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Dono do recurso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-  Vê só as próprias recomendações/gamificação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10911535" cy="1920240"/>
          </a:xfrm>
          <a:prstGeom prst="rect">
            <a:avLst/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14800"/>
            <a:ext cx="54864" cy="19202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14800"/>
            <a:ext cx="10454335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0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[Espaço para PRINT do Swagger UI rodando localmente]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6/10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Angular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HttpClient + interceptor de Bearer + guard de rota.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Telas: Login, Home, Cursos, Serviços, Pedidos (CRUD completo).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binding: interpolação, [ ], ( ), [( )]; diretivas *ngIf / *ngFor.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508760"/>
            <a:ext cx="4937760" cy="4023360"/>
          </a:xfrm>
          <a:prstGeom prst="roundRect">
            <a:avLst>
              <a:gd name="adj" fmla="val 1818"/>
            </a:avLst>
          </a:prstGeom>
          <a:solidFill>
            <a:srgbClr val="0E0E14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508760"/>
            <a:ext cx="4937760" cy="365760"/>
          </a:xfrm>
          <a:prstGeom prst="rect">
            <a:avLst/>
          </a:prstGeom>
          <a:solidFill>
            <a:srgbClr val="22222E"/>
          </a:solidFill>
          <a:ln/>
        </p:spPr>
      </p:sp>
      <p:sp>
        <p:nvSpPr>
          <p:cNvPr id="9" name="Shape 7"/>
          <p:cNvSpPr/>
          <p:nvPr/>
        </p:nvSpPr>
        <p:spPr>
          <a:xfrm>
            <a:off x="6748272" y="163677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0" name="Shape 8"/>
          <p:cNvSpPr/>
          <p:nvPr/>
        </p:nvSpPr>
        <p:spPr>
          <a:xfrm>
            <a:off x="6967728" y="1636776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Shape 9"/>
          <p:cNvSpPr/>
          <p:nvPr/>
        </p:nvSpPr>
        <p:spPr>
          <a:xfrm>
            <a:off x="7187184" y="1636776"/>
            <a:ext cx="109728" cy="109728"/>
          </a:xfrm>
          <a:prstGeom prst="ellipse">
            <a:avLst/>
          </a:prstGeom>
          <a:solidFill>
            <a:srgbClr val="3ECF8E"/>
          </a:solidFill>
          <a:ln/>
        </p:spPr>
      </p:sp>
      <p:sp>
        <p:nvSpPr>
          <p:cNvPr id="12" name="Text 10"/>
          <p:cNvSpPr/>
          <p:nvPr/>
        </p:nvSpPr>
        <p:spPr>
          <a:xfrm>
            <a:off x="7589520" y="1508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localhost:4200/pedidos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12280" y="2103120"/>
            <a:ext cx="4480560" cy="365760"/>
          </a:xfrm>
          <a:prstGeom prst="rect">
            <a:avLst/>
          </a:prstGeom>
          <a:solidFill>
            <a:srgbClr val="22222E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2103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Pedidos logísticos monitorados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12280" y="2651760"/>
            <a:ext cx="4480560" cy="457200"/>
          </a:xfrm>
          <a:prstGeom prst="rect">
            <a:avLst/>
          </a:prstGeom>
          <a:solidFill>
            <a:srgbClr val="1C1C28"/>
          </a:solidFill>
          <a:ln w="6350">
            <a:solidFill>
              <a:srgbClr val="3A3A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26517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LM-2026-0002  -  ATRASADO  -  Recalcular risco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2280" y="3200400"/>
            <a:ext cx="4480560" cy="457200"/>
          </a:xfrm>
          <a:prstGeom prst="rect">
            <a:avLst/>
          </a:prstGeom>
          <a:solidFill>
            <a:srgbClr val="1C1C28"/>
          </a:solidFill>
          <a:ln w="6350">
            <a:solidFill>
              <a:srgbClr val="3A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32004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LM-2026-0003  -  PENDENTE  -  Recalcular risco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3749040"/>
            <a:ext cx="4480560" cy="457200"/>
          </a:xfrm>
          <a:prstGeom prst="rect">
            <a:avLst/>
          </a:prstGeom>
          <a:solidFill>
            <a:srgbClr val="1C1C28"/>
          </a:solidFill>
          <a:ln w="6350">
            <a:solidFill>
              <a:srgbClr val="3A3A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LM-2026-0004  -  ENTREGUE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7/10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SEGUIR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Demonstração ao vivo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(Swagger) + Dashboard + App rodando de verdade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706728" y="310896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22222E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06728" y="3108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(Swagger)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07128" y="310896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22222E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7128" y="3108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(Angular)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07528" y="310896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22222E"/>
          </a:solidFill>
          <a:ln w="12700">
            <a:solidFill>
              <a:srgbClr val="ED09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07528" y="3108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(Flutter)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38648" y="4663440"/>
            <a:ext cx="914400" cy="914400"/>
          </a:xfrm>
          <a:prstGeom prst="ellipse">
            <a:avLst/>
          </a:prstGeom>
          <a:solidFill>
            <a:srgbClr val="ED0973"/>
          </a:solidFill>
          <a:ln/>
        </p:spPr>
      </p:sp>
      <p:sp>
        <p:nvSpPr>
          <p:cNvPr id="14" name="Text 12"/>
          <p:cNvSpPr/>
          <p:nvPr/>
        </p:nvSpPr>
        <p:spPr>
          <a:xfrm>
            <a:off x="5638648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895448" y="4297680"/>
            <a:ext cx="3200400" cy="822960"/>
          </a:xfrm>
          <a:prstGeom prst="line">
            <a:avLst/>
          </a:prstGeom>
          <a:noFill/>
          <a:ln w="19050">
            <a:solidFill>
              <a:srgbClr val="3A3A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5848" y="4297680"/>
            <a:ext cx="0" cy="822960"/>
          </a:xfrm>
          <a:prstGeom prst="line">
            <a:avLst/>
          </a:prstGeom>
          <a:noFill/>
          <a:ln w="19050">
            <a:solidFill>
              <a:srgbClr val="3A3A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5848" y="4297680"/>
            <a:ext cx="3200400" cy="822960"/>
          </a:xfrm>
          <a:prstGeom prst="line">
            <a:avLst/>
          </a:prstGeom>
          <a:noFill/>
          <a:ln w="19050">
            <a:solidFill>
              <a:srgbClr val="3A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8/10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HONESTIDADE TÉCNICA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Lições e limitações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6949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 do backend Java conferido contra o app real e o backend Python (ex.: campo senhaUser, regra isTutor).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●"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Não substitui o Python — é uma implementação paralela, completa, em Java.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503920" y="1508760"/>
            <a:ext cx="3017520" cy="1280160"/>
          </a:xfrm>
          <a:prstGeom prst="roundRect">
            <a:avLst>
              <a:gd name="adj" fmla="val 5714"/>
            </a:avLst>
          </a:prstGeom>
          <a:solidFill>
            <a:srgbClr val="22222E"/>
          </a:solidFill>
          <a:ln w="9525">
            <a:solidFill>
              <a:srgbClr val="3A3A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0" y="1618488"/>
            <a:ext cx="30175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0" y="2276856"/>
            <a:ext cx="283464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 cobertos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10911535" cy="685800"/>
          </a:xfrm>
          <a:prstGeom prst="roundRect">
            <a:avLst>
              <a:gd name="adj" fmla="val 8000"/>
            </a:avLst>
          </a:prstGeom>
          <a:solidFill>
            <a:srgbClr val="22222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61188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CF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corrigido:  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LazyInitializationException ao serializar topicosModulos - corrigida (fetch EAGER)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10911535" cy="685800"/>
          </a:xfrm>
          <a:prstGeom prst="roundRect">
            <a:avLst>
              <a:gd name="adj" fmla="val 8000"/>
            </a:avLst>
          </a:prstGeom>
          <a:solidFill>
            <a:srgbClr val="22222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3484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CF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corrigido:  </a:t>
            </a:r>
            <a:pPr indent="0" marL="0">
              <a:buNone/>
            </a:pPr>
            <a:r>
              <a:rPr lang="en-US" sz="115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malformado devolvia 500 em vez de 400 - corrigido no GlobalExceptionHandler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Hardening final (testes JUnit/Karma) planejado para a próxima rodada.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9/10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ENCERRAMENTO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Digital 360 mostra que tecnologia e inclusão podem — e devem — andar juntas.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5528" y="3840480"/>
            <a:ext cx="5120640" cy="594360"/>
          </a:xfrm>
          <a:prstGeom prst="roundRect">
            <a:avLst>
              <a:gd name="adj" fmla="val 49231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5528" y="384048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Repositório:  github.com/DevRafonalde/digital360_flutter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35528" y="4572000"/>
            <a:ext cx="5120640" cy="594360"/>
          </a:xfrm>
          <a:prstGeom prst="roundRect">
            <a:avLst>
              <a:gd name="adj" fmla="val 49231"/>
            </a:avLst>
          </a:prstGeom>
          <a:solidFill>
            <a:srgbClr val="22222E"/>
          </a:solidFill>
          <a:ln w="12700">
            <a:solidFill>
              <a:srgbClr val="3A3A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5528" y="457200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8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Vídeo:  [LINK DO VÍDEO]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55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10/10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HAS / Digital 360 - Fase 5</dc:title>
  <dc:subject>PptxGenJS Presentation</dc:subject>
  <dc:creator>Grupo Digital 360 - Smart HAS</dc:creator>
  <cp:lastModifiedBy>Grupo Digital 360 - Smart HAS</cp:lastModifiedBy>
  <cp:revision>1</cp:revision>
  <dcterms:created xsi:type="dcterms:W3CDTF">2026-08-16T22:31:09Z</dcterms:created>
  <dcterms:modified xsi:type="dcterms:W3CDTF">2026-08-16T22:31:09Z</dcterms:modified>
</cp:coreProperties>
</file>