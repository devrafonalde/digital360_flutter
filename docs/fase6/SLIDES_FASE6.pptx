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5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3353D"/>
                </a:solidFill>
                <a:latin typeface="+mn-lt"/>
              </a:rPr>
              <a:t>Score de risco (0–100)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de risco</c:v>
                </c:pt>
              </c:strCache>
            </c:strRef>
          </c:tx>
          <c:spPr>
            <a:solidFill>
              <a:srgbClr val="ED09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6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LM-0002</c:v>
                  </c:pt>
                  <c:pt idx="1">
                    <c:v>LM-0005</c:v>
                  </c:pt>
                  <c:pt idx="2">
                    <c:v>LM-0003</c:v>
                  </c:pt>
                  <c:pt idx="3">
                    <c:v>LM-0004</c:v>
                  </c:pt>
                  <c:pt idx="4">
                    <c:v>LM-0001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45</c:v>
                </c:pt>
                <c:pt idx="2">
                  <c:v>26</c:v>
                </c:pt>
                <c:pt idx="3">
                  <c:v>8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516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5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6350" cap="flat">
              <a:solidFill>
                <a:srgbClr val="E5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grupo e o objetivo da Fase 6 (camada Oracle PL/SQL integrada ao Java).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functions usam parâmetro IN, RETURN e tratam exceções com códigos padronizados (-20001 pedido inexistente, -20002 parâmetro inválido, -20003 usuário inexistente).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esperados para os dados simulados (script 05). Na gravação, mostrar a execução real no Oracle e a chamada da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E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B"/>
                </a:solidFill>
              </a:rPr>
              <a:t>FIAP  •  Smart HAS — Fase 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60120" y="320040"/>
            <a:ext cx="71323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5161C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0973"/>
                </a:solidFill>
              </a:rPr>
              <a:t>FIAP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BAC4"/>
                </a:solidFill>
              </a:rPr>
              <a:t>Enterprise Challenge 2026  •  Sociedade 5.0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SMART HAS — DIGITAL 360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10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0973"/>
                </a:solidFill>
              </a:rPr>
              <a:t>Banco de Dados na Sociedade 5.0</a:t>
            </a:r>
            <a:pPr indent="0" marL="0">
              <a:buNone/>
            </a:pPr>
            <a:r>
              <a:rPr lang="en-US" sz="1500" dirty="0">
                <a:solidFill>
                  <a:srgbClr val="E5E6EB"/>
                </a:solidFill>
              </a:rPr>
              <a:t>   |   Fase 6 — Oracle PL/SQL + Java</a:t>
            </a:r>
            <a:endParaRPr lang="en-US" sz="1500" dirty="0"/>
          </a:p>
        </p:txBody>
      </p:sp>
      <p:pic>
        <p:nvPicPr>
          <p:cNvPr id="6" name="foto_1" descr="/tmp/claude-0/fotos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395728"/>
            <a:ext cx="896112" cy="8961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3832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Eduardo Vasques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393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0973"/>
                </a:solidFill>
              </a:rPr>
              <a:t>RM 556970</a:t>
            </a:r>
            <a:endParaRPr lang="en-US" sz="1000" dirty="0"/>
          </a:p>
        </p:txBody>
      </p:sp>
      <p:pic>
        <p:nvPicPr>
          <p:cNvPr id="9" name="foto_2" descr="/tmp/claude-0/fotos/image-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2395728"/>
            <a:ext cx="896112" cy="8961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57984" y="33832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Otávio Souza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2157984" y="36393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0973"/>
                </a:solidFill>
              </a:rPr>
              <a:t>RM 550361</a:t>
            </a:r>
            <a:endParaRPr lang="en-US" sz="1000" dirty="0"/>
          </a:p>
        </p:txBody>
      </p:sp>
      <p:pic>
        <p:nvPicPr>
          <p:cNvPr id="12" name="foto_3" descr="/tmp/claude-0/fotos/image-1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395728"/>
            <a:ext cx="896112" cy="8961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58768" y="33832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Enzo Paiva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3858768" y="36393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0973"/>
                </a:solidFill>
              </a:rPr>
              <a:t>RM 557632</a:t>
            </a:r>
            <a:endParaRPr lang="en-US" sz="1000" dirty="0"/>
          </a:p>
        </p:txBody>
      </p:sp>
      <p:pic>
        <p:nvPicPr>
          <p:cNvPr id="15" name="foto_4" descr="/tmp/claude-0/fotos/image-1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395728"/>
            <a:ext cx="896112" cy="8961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559552" y="33832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Rafael Albuquerque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5559552" y="36393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0973"/>
                </a:solidFill>
              </a:rPr>
              <a:t>RM 559136</a:t>
            </a:r>
            <a:endParaRPr lang="en-US" sz="1000" dirty="0"/>
          </a:p>
        </p:txBody>
      </p:sp>
      <p:pic>
        <p:nvPicPr>
          <p:cNvPr id="18" name="foto_5" descr="/tmp/claude-0/fotos/image-1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2395728"/>
            <a:ext cx="896112" cy="89611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260336" y="33832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Guilherme Tibúrcio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7260336" y="36393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0973"/>
                </a:solidFill>
              </a:rPr>
              <a:t>RM 557500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BAC4"/>
                </a:solidFill>
              </a:rPr>
              <a:t>GitHub: github.com/DevRafonalde/digital360_flutter     Vídeo (YouTube): [inserir link]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E99"/>
                </a:solidFill>
              </a:rPr>
              <a:t>São Paulo  •  Outubro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"/>
          <p:cNvSpPr/>
          <p:nvPr/>
        </p:nvSpPr>
        <p:spPr>
          <a:xfrm>
            <a:off x="411480" y="393192"/>
            <a:ext cx="402336" cy="402336"/>
          </a:xfrm>
          <a:prstGeom prst="ellipse">
            <a:avLst/>
          </a:prstGeom>
          <a:solidFill>
            <a:srgbClr val="ED0973"/>
          </a:solidFill>
          <a:ln w="12700">
            <a:solidFill>
              <a:srgbClr val="ED09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93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96012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161C"/>
                </a:solidFill>
              </a:rPr>
              <a:t>O que a Fase 6 entrega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53D"/>
                </a:solidFill>
              </a:rPr>
              <a:t>O motor de risco da AI Logistics saiu do app e passou a rodar no Oracle. App, API e rotinas automatizadas agora usam a mesma regra, e cada decisão fica registrada.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0973"/>
                </a:solidFill>
              </a:rPr>
              <a:t>11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53D"/>
                </a:solidFill>
              </a:rPr>
              <a:t>tabelas com PK, FK, CHECK e UNIQUE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8745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20116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0973"/>
                </a:solidFill>
              </a:rPr>
              <a:t>4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788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53D"/>
                </a:solidFill>
              </a:rPr>
              <a:t>functions PL/SQL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0116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0973"/>
                </a:solidFill>
              </a:rPr>
              <a:t>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88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53D"/>
                </a:solidFill>
              </a:rPr>
              <a:t>procedures com CURSOR, LOOP e EXCEPTION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8745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20116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0973"/>
                </a:solidFill>
              </a:rPr>
              <a:t>6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788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53D"/>
                </a:solidFill>
              </a:rPr>
              <a:t>endpoints /oracle no backend Java da Fase 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53D"/>
                </a:solidFill>
              </a:rPr>
              <a:t>Novas funcionalidades: </a:t>
            </a:r>
            <a:pPr indent="0" marL="0">
              <a:buNone/>
            </a:pPr>
            <a:r>
              <a:rPr lang="en-US" sz="1400" dirty="0">
                <a:solidFill>
                  <a:srgbClr val="33353D"/>
                </a:solidFill>
              </a:rPr>
              <a:t>alertas automáticos de sensores IoT, histórico de risco auditável, relatório de engajamento por usuário e modo híbrido no app (Logística via Oracle).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"/>
          <p:cNvSpPr/>
          <p:nvPr/>
        </p:nvSpPr>
        <p:spPr>
          <a:xfrm>
            <a:off x="411480" y="393192"/>
            <a:ext cx="402336" cy="402336"/>
          </a:xfrm>
          <a:prstGeom prst="ellipse">
            <a:avLst/>
          </a:prstGeom>
          <a:solidFill>
            <a:srgbClr val="ED0973"/>
          </a:solidFill>
          <a:ln w="12700">
            <a:solidFill>
              <a:srgbClr val="ED09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93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96012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161C"/>
                </a:solidFill>
              </a:rPr>
              <a:t>Arquitetura: REST → Java → JDBC → Oracle</a:t>
            </a:r>
            <a:endParaRPr lang="en-US" sz="2600" dirty="0"/>
          </a:p>
        </p:txBody>
      </p:sp>
      <p:pic>
        <p:nvPicPr>
          <p:cNvPr id="5" name="Image 0" descr="/mnt/user-data/outputs/SmartHAS_Fase6/_assets/arquitetura_fas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15010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0973"/>
                </a:solidFill>
              </a:rPr>
              <a:t>Clientes REST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53D"/>
                </a:solidFill>
              </a:rPr>
              <a:t>Swagger, dashboard ou app chamam /oracle/**; o gateway IoT envia leituras.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0973"/>
                </a:solidFill>
              </a:rPr>
              <a:t>backend-java (Fase 5)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53D"/>
                </a:solidFill>
              </a:rPr>
              <a:t>Novo pacote plsql: JWT, Swagger e erros ORA-200xx viram HTTP 404/400.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0973"/>
                </a:solidFill>
              </a:rPr>
              <a:t>Oracle PL/SQL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53D"/>
                </a:solidFill>
              </a:rPr>
              <a:t>Regras de risco, alertas e relatório no banco, com transação controlada pela API.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"/>
          <p:cNvSpPr/>
          <p:nvPr/>
        </p:nvSpPr>
        <p:spPr>
          <a:xfrm>
            <a:off x="411480" y="393192"/>
            <a:ext cx="402336" cy="402336"/>
          </a:xfrm>
          <a:prstGeom prst="ellipse">
            <a:avLst/>
          </a:prstGeom>
          <a:solidFill>
            <a:srgbClr val="ED0973"/>
          </a:solidFill>
          <a:ln w="12700">
            <a:solidFill>
              <a:srgbClr val="ED09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93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96012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161C"/>
                </a:solidFill>
              </a:rPr>
              <a:t>Modelo relacional (DER)</a:t>
            </a:r>
            <a:endParaRPr lang="en-US" sz="2600" dirty="0"/>
          </a:p>
        </p:txBody>
      </p:sp>
      <p:pic>
        <p:nvPicPr>
          <p:cNvPr id="5" name="Image 0" descr="/mnt/user-data/outputs/SmartHAS_Fase6/_assets/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444571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09728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36592" y="1280160"/>
            <a:ext cx="274320" cy="274320"/>
          </a:xfrm>
          <a:prstGeom prst="ellipse">
            <a:avLst/>
          </a:prstGeom>
          <a:solidFill>
            <a:srgbClr val="ED0973"/>
          </a:solidFill>
          <a:ln w="12700">
            <a:solidFill>
              <a:srgbClr val="ED097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38928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61C"/>
                </a:solidFill>
              </a:rPr>
              <a:t>Inclusão digital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138928" y="157276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USUARIO, CURSO, MATRICULA, SERVICO, FAVORITO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228600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36592" y="2468880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38928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61C"/>
                </a:solidFill>
              </a:rPr>
              <a:t>Logística inteligente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138928" y="27614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PEDIDO, RISCO_HIST, ALERTA, RELATORIO_USUARIO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0" y="347472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36592" y="3657600"/>
            <a:ext cx="274320" cy="274320"/>
          </a:xfrm>
          <a:prstGeom prst="ellipse">
            <a:avLst/>
          </a:prstGeom>
          <a:solidFill>
            <a:srgbClr val="00B386"/>
          </a:solidFill>
          <a:ln w="12700">
            <a:solidFill>
              <a:srgbClr val="00B38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38928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61C"/>
                </a:solidFill>
              </a:rPr>
              <a:t>IoT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138928" y="39502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SENSOR, LEITURA (telemetria de temperatura, umidade e vibração)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"/>
          <p:cNvSpPr/>
          <p:nvPr/>
        </p:nvSpPr>
        <p:spPr>
          <a:xfrm>
            <a:off x="411480" y="393192"/>
            <a:ext cx="402336" cy="402336"/>
          </a:xfrm>
          <a:prstGeom prst="ellipse">
            <a:avLst/>
          </a:prstGeom>
          <a:solidFill>
            <a:srgbClr val="ED0973"/>
          </a:solidFill>
          <a:ln w="12700">
            <a:solidFill>
              <a:srgbClr val="ED09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93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96012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161C"/>
                </a:solidFill>
              </a:rPr>
              <a:t>Dados simulados importados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536192" cy="1325880"/>
          </a:xfrm>
          <a:prstGeom prst="roundRect">
            <a:avLst>
              <a:gd name="adj" fmla="val 551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34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0973"/>
                </a:solidFill>
              </a:rPr>
              <a:t>6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usuários fictícios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39696" y="1143000"/>
            <a:ext cx="1536192" cy="1325880"/>
          </a:xfrm>
          <a:prstGeom prst="roundRect">
            <a:avLst>
              <a:gd name="adj" fmla="val 551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76856" y="1234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0973"/>
                </a:solidFill>
              </a:rPr>
              <a:t>5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276856" y="1874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pedidos (1 crítico)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22192" y="1143000"/>
            <a:ext cx="1536192" cy="1325880"/>
          </a:xfrm>
          <a:prstGeom prst="roundRect">
            <a:avLst>
              <a:gd name="adj" fmla="val 551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59352" y="1234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0973"/>
                </a:solidFill>
              </a:rPr>
              <a:t>5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959352" y="1874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sensores IoT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04688" y="1143000"/>
            <a:ext cx="1536192" cy="1325880"/>
          </a:xfrm>
          <a:prstGeom prst="roundRect">
            <a:avLst>
              <a:gd name="adj" fmla="val 551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1848" y="1234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0973"/>
                </a:solidFill>
              </a:rPr>
              <a:t>19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5641848" y="1874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leituras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87184" y="1143000"/>
            <a:ext cx="1536192" cy="1325880"/>
          </a:xfrm>
          <a:prstGeom prst="roundRect">
            <a:avLst>
              <a:gd name="adj" fmla="val 5517"/>
            </a:avLst>
          </a:prstGeom>
          <a:solidFill>
            <a:srgbClr val="FCE4F0"/>
          </a:solidFill>
          <a:ln w="12700">
            <a:solidFill>
              <a:srgbClr val="FCE4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24344" y="1234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0973"/>
                </a:solidFill>
              </a:rPr>
              <a:t>6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7324344" y="1874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leituras fora da faixa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53D"/>
                </a:solidFill>
              </a:rPr>
              <a:t>Os pedidos 1 a 4 são os mesmos do app Flutter, então o app e o banco mostram os mesmos dados na demonstração.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0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segura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09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crítica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097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(tinta 18L)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 40 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52,3 °C → CRITICO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Umidade (piso laminado)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a 65 %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74 % → CRITICO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Vibração (furadeira)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a 3 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 g → 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"/>
          <p:cNvSpPr/>
          <p:nvPr/>
        </p:nvSpPr>
        <p:spPr>
          <a:xfrm>
            <a:off x="411480" y="393192"/>
            <a:ext cx="402336" cy="402336"/>
          </a:xfrm>
          <a:prstGeom prst="ellipse">
            <a:avLst/>
          </a:prstGeom>
          <a:solidFill>
            <a:srgbClr val="ED0973"/>
          </a:solidFill>
          <a:ln w="12700">
            <a:solidFill>
              <a:srgbClr val="ED09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93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96012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161C"/>
                </a:solidFill>
              </a:rPr>
              <a:t>Functions: indicadores e dados formatados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D09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FN_CALCULA_RISCO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53D"/>
                </a:solidFill>
              </a:rPr>
              <a:t>Indicador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1247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Score 0–100: atrasos, reagendamentos, estoque, distância e status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810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D09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FN_PROGRESSO_MEDIO_USUARIO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1810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53D"/>
                </a:solidFill>
              </a:rPr>
              <a:t>Indicador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7465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Média de progresso do usuário nas trilhas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4323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D09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FN_NIVEL_RISCO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53D"/>
                </a:solidFill>
              </a:rPr>
              <a:t>Classificação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3682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BAIXO / MEDIO / ALTO / CRITICO (DETERMINISTIC)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054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D09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FN_RESUMO_PEDIDO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054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53D"/>
                </a:solidFill>
              </a:rPr>
              <a:t>Dados formatados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9900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Linha pronta para app, painel ou notificação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393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E1018"/>
          </a:solidFill>
          <a:ln w="12700">
            <a:solidFill>
              <a:srgbClr val="0E101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71246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FN_RESUMO_PEDIDO(ID_PEDIDO) FROM T_SH_PEDIDO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FN_NIVEL_RISCO(FN_CALCULA_RISCO(ID_PEDIDO)) IN ('ALTO','CRITICO');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6966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LM-2026-0002 | Tinta acrilica 18L | ATRASADO | Risco 100 (CRITICO) | Prazo 15/06/2026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"/>
          <p:cNvSpPr/>
          <p:nvPr/>
        </p:nvSpPr>
        <p:spPr>
          <a:xfrm>
            <a:off x="411480" y="393192"/>
            <a:ext cx="402336" cy="402336"/>
          </a:xfrm>
          <a:prstGeom prst="ellipse">
            <a:avLst/>
          </a:prstGeom>
          <a:solidFill>
            <a:srgbClr val="ED0973"/>
          </a:solidFill>
          <a:ln w="12700">
            <a:solidFill>
              <a:srgbClr val="ED09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93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96012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161C"/>
                </a:solidFill>
              </a:rPr>
              <a:t>Procedures: rotinas automatizadas no banco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234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D09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SP_REGISTRAR_ALERTAS_SENSORES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28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53D"/>
                </a:solidFill>
              </a:rPr>
              <a:t>Varre leituras pendentes e grava alerta ALTO ou CRITICO para cada leitura fora da faixa. Idempotente.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F7B"/>
                </a:solidFill>
              </a:rPr>
              <a:t>CURSOR FOR UPDATE • LOOP • IF/ELSIF • WHERE CURRENT OF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1234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D09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SP_RECALCULAR_RISCO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1828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53D"/>
                </a:solidFill>
              </a:rPr>
              <a:t>Motor de risco: score, nível, recomendação, histórico e alerta sem duplicar. Acionada pela API Java.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F7B"/>
                </a:solidFill>
              </a:rPr>
              <a:t>1 IN + 4 OUT • reusa functions • EXCEPTION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234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D09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SP_GERAR_RELATORIO_USUARIOS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1828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53D"/>
                </a:solidFill>
              </a:rPr>
              <a:t>Resumo de consumo por usuário: trilhas, progresso, pedidos, alertas e classificação.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F7B"/>
                </a:solidFill>
              </a:rPr>
              <a:t>Cursor explícito • OPEN/FETCH/CLOSE • %ISOPEN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"/>
          <p:cNvSpPr/>
          <p:nvPr/>
        </p:nvSpPr>
        <p:spPr>
          <a:xfrm>
            <a:off x="411480" y="393192"/>
            <a:ext cx="402336" cy="402336"/>
          </a:xfrm>
          <a:prstGeom prst="ellipse">
            <a:avLst/>
          </a:prstGeom>
          <a:solidFill>
            <a:srgbClr val="ED0973"/>
          </a:solidFill>
          <a:ln w="12700">
            <a:solidFill>
              <a:srgbClr val="ED09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93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96012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161C"/>
                </a:solidFill>
              </a:rPr>
              <a:t>Integração Java acionando a procedure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754880" cy="3429000"/>
          </a:xfrm>
          <a:prstGeom prst="roundRect">
            <a:avLst>
              <a:gd name="adj" fmla="val 2133"/>
            </a:avLst>
          </a:prstGeom>
          <a:solidFill>
            <a:srgbClr val="0E1018"/>
          </a:solidFill>
          <a:ln w="12700">
            <a:solidFill>
              <a:srgbClr val="0E10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/oracle/entregas/2/recalcular-risco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 = con.prepareCall(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"{call SP_RECALCULAR_RISCO(?,?,?,?,?)}");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cs.setLong(1, idPedido);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cs.registerOutParameter(2, NUMERIC);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cs.registerOutParameter(3, VARCHAR);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6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cs.execute();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"riscoScore": 100,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"riscoNivel": "CRITICO" 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40680" y="1051560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96128" y="1161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0973"/>
                </a:solidFill>
              </a:rPr>
              <a:t>Dentro do backend da Fase 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596128" y="1463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Pacote plsql no backend-java, com o mesmo login JWT e Swagger.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40680" y="2212848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96128" y="232257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0973"/>
                </a:solidFill>
              </a:rPr>
              <a:t>Transação única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96128" y="262432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Leitura IoT + procedure de alertas: commit junto ou rollback junto.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40680" y="3374136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96128" y="348386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0973"/>
                </a:solidFill>
              </a:rPr>
              <a:t>Erros tratados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96128" y="37856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ORA-20001 → 404, ORA-20002 → 400, falha técnica → 503.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"/>
          <p:cNvSpPr/>
          <p:nvPr/>
        </p:nvSpPr>
        <p:spPr>
          <a:xfrm>
            <a:off x="411480" y="393192"/>
            <a:ext cx="402336" cy="402336"/>
          </a:xfrm>
          <a:prstGeom prst="ellipse">
            <a:avLst/>
          </a:prstGeom>
          <a:solidFill>
            <a:srgbClr val="ED0973"/>
          </a:solidFill>
          <a:ln w="12700">
            <a:solidFill>
              <a:srgbClr val="ED09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93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960120" y="320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161C"/>
                </a:solidFill>
              </a:rPr>
              <a:t>Resultados: risco por pedido calculado no Oracle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051560"/>
            <a:ext cx="3017520" cy="1024128"/>
          </a:xfrm>
          <a:prstGeom prst="roundRect">
            <a:avLst>
              <a:gd name="adj" fmla="val 714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33872" y="121615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0973"/>
                </a:solidFill>
              </a:rPr>
              <a:t>6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216152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alertas de sensor gerados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2212848"/>
            <a:ext cx="3017520" cy="1024128"/>
          </a:xfrm>
          <a:prstGeom prst="roundRect">
            <a:avLst>
              <a:gd name="adj" fmla="val 714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33872" y="2377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0973"/>
                </a:solidFill>
              </a:rPr>
              <a:t>1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alerta de risco (só o pedido CRITICO)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3374136"/>
            <a:ext cx="3017520" cy="1024128"/>
          </a:xfrm>
          <a:prstGeom prst="roundRect">
            <a:avLst>
              <a:gd name="adj" fmla="val 7143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33872" y="353872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0973"/>
                </a:solidFill>
              </a:rPr>
              <a:t>6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538728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53D"/>
                </a:solidFill>
              </a:rPr>
              <a:t>usuários no relatório: 1 ENGAJADO, 3 EM_PROGRESSO, 2 INICIANTE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F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Valor gerado e próximos passos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2606040"/>
          </a:xfrm>
          <a:prstGeom prst="roundRect">
            <a:avLst>
              <a:gd name="adj" fmla="val 2807"/>
            </a:avLst>
          </a:prstGeom>
          <a:solidFill>
            <a:srgbClr val="1C1F2B"/>
          </a:solidFill>
          <a:ln w="12700">
            <a:solidFill>
              <a:srgbClr val="1C1F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D0973"/>
                </a:solidFill>
              </a:rPr>
              <a:t>O que ganhamos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6EB"/>
                </a:solidFill>
              </a:rPr>
              <a:t>Uma regra de risco, um só lugar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6EB"/>
                </a:solidFill>
              </a:rPr>
              <a:t>Integridade garantida pelo banco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6EB"/>
                </a:solidFill>
              </a:rPr>
              <a:t>Auditoria de cada decisão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6EB"/>
                </a:solidFill>
              </a:rPr>
              <a:t>Alertas automáticos de IoT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3931920" cy="2606040"/>
          </a:xfrm>
          <a:prstGeom prst="roundRect">
            <a:avLst>
              <a:gd name="adj" fmla="val 2807"/>
            </a:avLst>
          </a:prstGeom>
          <a:solidFill>
            <a:srgbClr val="1C1F2B"/>
          </a:solidFill>
          <a:ln w="12700">
            <a:solidFill>
              <a:srgbClr val="1C1F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B386"/>
                </a:solidFill>
              </a:rPr>
              <a:t>Próximos passos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6EB"/>
                </a:solidFill>
              </a:rPr>
              <a:t>Tela de alertas Oracle no dashboard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6EB"/>
                </a:solidFill>
              </a:rPr>
              <a:t>App consumindo /oracle/** direto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6EB"/>
                </a:solidFill>
              </a:rPr>
              <a:t>Job DBMS_SCHEDULER para os alertas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6EB"/>
                </a:solidFill>
              </a:rPr>
              <a:t>Testes com usuários reais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BAC4"/>
                </a:solidFill>
              </a:rPr>
              <a:t>GitHub: github.com/DevRafonalde/digital360_flutter     Vídeo: [inserir link]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0973"/>
                </a:solidFill>
              </a:rPr>
              <a:t>Obrigado!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HAS FIAP">
  <a:themeElements>
    <a:clrScheme name="Smart HAS FIAP">
      <a:dk1>
        <a:srgbClr val="15161C"/>
      </a:dk1>
      <a:lt1>
        <a:srgbClr val="FFFFFF"/>
      </a:lt1>
      <a:dk2>
        <a:srgbClr val="0E1018"/>
      </a:dk2>
      <a:lt2>
        <a:srgbClr val="F4F4F7"/>
      </a:lt2>
      <a:accent1>
        <a:srgbClr val="ED0973"/>
      </a:accent1>
      <a:accent2>
        <a:srgbClr val="00B386"/>
      </a:accent2>
      <a:accent3>
        <a:srgbClr val="FF6B35"/>
      </a:accent3>
      <a:accent4>
        <a:srgbClr val="6B6F7B"/>
      </a:accent4>
      <a:accent5>
        <a:srgbClr val="FCE4F0"/>
      </a:accent5>
      <a:accent6>
        <a:srgbClr val="E5E6EB"/>
      </a:accent6>
      <a:hlink>
        <a:srgbClr val="ED0973"/>
      </a:hlink>
      <a:folHlink>
        <a:srgbClr val="A0065A"/>
      </a:folHlink>
    </a:clrScheme>
    <a:fontScheme name="Smart HAS FIA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HAS - Fase 6 - Banco de Dados na Sociedade 5.0</dc:title>
  <dc:subject>PptxGenJS Presentation</dc:subject>
  <dc:creator>PptxGenJS</dc:creator>
  <cp:lastModifiedBy>PptxGenJS</cp:lastModifiedBy>
  <cp:revision>1</cp:revision>
  <dcterms:created xsi:type="dcterms:W3CDTF">2026-10-03T15:18:27Z</dcterms:created>
  <dcterms:modified xsi:type="dcterms:W3CDTF">2026-10-03T15:18:27Z</dcterms:modified>
</cp:coreProperties>
</file>