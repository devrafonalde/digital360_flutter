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926080"/>
            <a:ext cx="6949440" cy="6949440"/>
          </a:xfrm>
          <a:prstGeom prst="ellipse">
            <a:avLst/>
          </a:prstGeom>
          <a:solidFill>
            <a:srgbClr val="23232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480560"/>
            <a:ext cx="4023360" cy="4023360"/>
          </a:xfrm>
          <a:prstGeom prst="ellipse">
            <a:avLst/>
          </a:prstGeom>
          <a:solidFill>
            <a:srgbClr val="1A1A2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0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 ·  ENTERPRISE CHALLENGE  ·  ATIVIDADE 4  · 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360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HAS — AI Logistics Extension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2140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Challenge · Leroy Merlin — produto concluído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1D1D2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Vídeo (YouTube, não listado)   </a:t>
            </a:r>
            <a:pPr indent="0" marL="0">
              <a:buNone/>
            </a:pPr>
            <a:r>
              <a:rPr lang="en-US" sz="1300" i="1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 DO VÍDEO — preencher após publicar]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20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Repositório GitHub   </a:t>
            </a:r>
            <a:pPr indent="0" marL="0">
              <a:buNone/>
            </a:pPr>
            <a:r>
              <a:rPr lang="en-US" sz="13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github.com/DevRafonalde/digital360_flutter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32886" y="4626864"/>
            <a:ext cx="850392" cy="850392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9462" y="4663440"/>
            <a:ext cx="777240" cy="777240"/>
          </a:xfrm>
          <a:prstGeom prst="ellipse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21792" y="5513832"/>
            <a:ext cx="2072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Andrade Martins Vasques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21792" y="5897880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556970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51769" y="4626864"/>
            <a:ext cx="850392" cy="850392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345" y="4663440"/>
            <a:ext cx="777240" cy="777240"/>
          </a:xfrm>
          <a:prstGeom prst="ellipse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840675" y="5513832"/>
            <a:ext cx="2072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Otávio Ramos dos Santos Souza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2840675" y="5897880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550361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670652" y="4626864"/>
            <a:ext cx="850392" cy="850392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228" y="4663440"/>
            <a:ext cx="777240" cy="777240"/>
          </a:xfrm>
          <a:prstGeom prst="ellipse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059558" y="5513832"/>
            <a:ext cx="2072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Enzo Miranda Ward de Paiva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5059558" y="5897880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557632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7889535" y="4626864"/>
            <a:ext cx="850392" cy="850392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6111" y="4663440"/>
            <a:ext cx="777240" cy="777240"/>
          </a:xfrm>
          <a:prstGeom prst="ellipse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78441" y="5513832"/>
            <a:ext cx="2072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Pinto de Albuquerque</a:t>
            </a:r>
            <a:endParaRPr lang="en-US" sz="850" dirty="0"/>
          </a:p>
        </p:txBody>
      </p:sp>
      <p:sp>
        <p:nvSpPr>
          <p:cNvPr id="26" name="Text 20"/>
          <p:cNvSpPr txBox="1"/>
          <p:nvPr/>
        </p:nvSpPr>
        <p:spPr>
          <a:xfrm>
            <a:off x="7278441" y="5897880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559136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10108418" y="4626864"/>
            <a:ext cx="850392" cy="850392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4994" y="4663440"/>
            <a:ext cx="777240" cy="777240"/>
          </a:xfrm>
          <a:prstGeom prst="ellipse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497324" y="5513832"/>
            <a:ext cx="2072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Leoni Vidigal Tibúrcio</a:t>
            </a:r>
            <a:endParaRPr lang="en-US" sz="850" dirty="0"/>
          </a:p>
        </p:txBody>
      </p:sp>
      <p:sp>
        <p:nvSpPr>
          <p:cNvPr id="30" name="Text 23"/>
          <p:cNvSpPr txBox="1"/>
          <p:nvPr/>
        </p:nvSpPr>
        <p:spPr>
          <a:xfrm>
            <a:off x="9497324" y="5897880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557500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669280" cy="5669280"/>
          </a:xfrm>
          <a:prstGeom prst="ellipse">
            <a:avLst/>
          </a:prstGeom>
          <a:solidFill>
            <a:srgbClr val="23232F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Exclusão digital encontra logística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 de idosos e pessoas com baixa escolaridade não conseguem acessar serviços públicos essenciais — e, quando conseguem, não têm como acompanhar se o suporte ou o pedido que precisam realmente chegou até eles.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6126480" cy="1371600"/>
          </a:xfrm>
          <a:prstGeom prst="roundRect">
            <a:avLst>
              <a:gd name="adj" fmla="val 5333"/>
            </a:avLst>
          </a:prstGeom>
          <a:solidFill>
            <a:srgbClr val="1D1D2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8404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do Enterprise Challenge: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Logística Inteligente e Experiência de Entrega 5.0 sobre essa jornada — o conteúdo certo, ao usuário certo, no momento certo.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40880" y="1737360"/>
            <a:ext cx="4602175" cy="1143000"/>
          </a:xfrm>
          <a:prstGeom prst="roundRect">
            <a:avLst>
              <a:gd name="adj" fmla="val 6400"/>
            </a:avLst>
          </a:prstGeom>
          <a:solidFill>
            <a:srgbClr val="1D1D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6948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30M+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1737360"/>
            <a:ext cx="23161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idosos no Brasil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40880" y="3108960"/>
            <a:ext cx="4602175" cy="1143000"/>
          </a:xfrm>
          <a:prstGeom prst="roundRect">
            <a:avLst>
              <a:gd name="adj" fmla="val 6400"/>
            </a:avLst>
          </a:prstGeom>
          <a:solidFill>
            <a:srgbClr val="1D1D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em 3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3108960"/>
            <a:ext cx="23161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baixo letramento digital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40880" y="4480560"/>
            <a:ext cx="4602175" cy="1143000"/>
          </a:xfrm>
          <a:prstGeom prst="roundRect">
            <a:avLst>
              <a:gd name="adj" fmla="val 6400"/>
            </a:avLst>
          </a:prstGeom>
          <a:solidFill>
            <a:srgbClr val="1D1D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69480" y="4617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09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4480560"/>
            <a:ext cx="23161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entregas precisam de rastreabilidade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669280" cy="5669280"/>
          </a:xfrm>
          <a:prstGeom prst="ellipse">
            <a:avLst/>
          </a:prstGeom>
          <a:solidFill>
            <a:srgbClr val="23232F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0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360 + AI Logistics Extension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15258" cy="3291840"/>
          </a:xfrm>
          <a:prstGeom prst="roundRect">
            <a:avLst>
              <a:gd name="adj" fmla="val 2778"/>
            </a:avLst>
          </a:prstGeom>
          <a:solidFill>
            <a:srgbClr val="1D1D28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de Informação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6616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certo, usuário certo, momento certo — online ou offline.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8218" y="1920240"/>
            <a:ext cx="3515258" cy="3291840"/>
          </a:xfrm>
          <a:prstGeom prst="roundRect">
            <a:avLst>
              <a:gd name="adj" fmla="val 2778"/>
            </a:avLst>
          </a:prstGeom>
          <a:solidFill>
            <a:srgbClr val="1D1D28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2538" y="21945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253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28803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de Entrega 5.0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12538" y="356616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de inclusão tratada como uma cadeia logística de valor, com rastreamento e proatividade.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7797" y="1920240"/>
            <a:ext cx="3515258" cy="3291840"/>
          </a:xfrm>
          <a:prstGeom prst="roundRect">
            <a:avLst>
              <a:gd name="adj" fmla="val 2778"/>
            </a:avLst>
          </a:prstGeom>
          <a:solidFill>
            <a:srgbClr val="1D1D28"/>
          </a:solidFill>
          <a:ln w="19050">
            <a:solidFill>
              <a:srgbClr val="ED09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02117" y="2194560"/>
            <a:ext cx="457200" cy="457200"/>
          </a:xfrm>
          <a:prstGeom prst="ellipse">
            <a:avLst/>
          </a:prstGeom>
          <a:solidFill>
            <a:srgbClr val="ED097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02117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02117" y="28803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orientada a Exceções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356616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computacional concentrado nos picos e cenários de alta variabilidade — onde o impacto é maior.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669280" cy="5669280"/>
          </a:xfrm>
          <a:prstGeom prst="ellipse">
            <a:avLst/>
          </a:prstGeom>
          <a:solidFill>
            <a:srgbClr val="23232F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compõe o ecossistema hoje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73152" cy="356616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20240"/>
            <a:ext cx="2339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Flutter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23392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do cidadão: trilhas com módulos reais, guia de serviços, AI Logistics, assistente de IA.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0824" y="1920240"/>
            <a:ext cx="73152" cy="3566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9424" y="1920240"/>
            <a:ext cx="2339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Python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19424" y="2697480"/>
            <a:ext cx="23392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original do app — hospeda os motores de IA (detalhes no próximo slide).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3008" y="1920240"/>
            <a:ext cx="73152" cy="3566160"/>
          </a:xfrm>
          <a:prstGeom prst="rect">
            <a:avLst/>
          </a:prstGeom>
          <a:solidFill>
            <a:srgbClr val="ED097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61608" y="1920240"/>
            <a:ext cx="2339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Java / Spring Boot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61608" y="2697480"/>
            <a:ext cx="23392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endpoints, JWT, H2, Swagger — mesma camada de AI Logistics exposta com robustez.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75191" y="1920240"/>
            <a:ext cx="73152" cy="3566160"/>
          </a:xfrm>
          <a:prstGeom prst="rect">
            <a:avLst/>
          </a:prstGeom>
          <a:solidFill>
            <a:srgbClr val="9A9AA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03791" y="1920240"/>
            <a:ext cx="2339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Angular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303791" y="2697480"/>
            <a:ext cx="23392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 para a operação: pedidos, cursos, serviços e impacto.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ecossistema, dois pontos de entrada: o cidadão no app, a operação no painel.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669280" cy="5669280"/>
          </a:xfrm>
          <a:prstGeom prst="ellipse">
            <a:avLst/>
          </a:prstGeom>
          <a:solidFill>
            <a:srgbClr val="23232F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0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LOGISTICS EXTENSION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valor está sendo gerado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D1D2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82296" cy="118872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659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Recomendação — ML real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920240"/>
            <a:ext cx="6522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 colaborativa item-a-item (similaridade de cosseno) quando há uso de mais de um usuário; heurística de frequência/novidade como fallback quando não há dado suficiente. Testado.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D1D2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246120"/>
            <a:ext cx="82296" cy="1188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3832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Picos e Sazonalidade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337560"/>
            <a:ext cx="6522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o volume recente de uso por categoria contra a média histórica (regra estatística) e sinaliza picos de demanda.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D1D28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663440"/>
            <a:ext cx="82296" cy="1188720"/>
          </a:xfrm>
          <a:prstGeom prst="rect">
            <a:avLst/>
          </a:prstGeom>
          <a:solidFill>
            <a:srgbClr val="ED09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800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da Jornada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4754880"/>
            <a:ext cx="6522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mostra ao usuário onde está, o que conquistou e o próximo passo — o mesmo princípio de rastreio de um pedido logístico.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669280" cy="5669280"/>
          </a:xfrm>
          <a:prstGeom prst="ellipse">
            <a:avLst/>
          </a:prstGeom>
          <a:solidFill>
            <a:srgbClr val="23232F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CONCLUÍDO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está pronto e funcionando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64328" cy="594360"/>
          </a:xfrm>
          <a:prstGeom prst="roundRect">
            <a:avLst>
              <a:gd name="adj" fmla="val 12308"/>
            </a:avLst>
          </a:prstGeom>
          <a:solidFill>
            <a:srgbClr val="1D1D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82880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28800"/>
            <a:ext cx="463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Trilhas com módulos reais e certificado personalizado em PDF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1828800"/>
            <a:ext cx="5364328" cy="594360"/>
          </a:xfrm>
          <a:prstGeom prst="roundRect">
            <a:avLst>
              <a:gd name="adj" fmla="val 12308"/>
            </a:avLst>
          </a:prstGeom>
          <a:solidFill>
            <a:srgbClr val="1D1D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61608" y="182880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27368" y="1828800"/>
            <a:ext cx="463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serviços, incluindo direitos do idoso (Estatuto do Idoso)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364328" cy="594360"/>
          </a:xfrm>
          <a:prstGeom prst="roundRect">
            <a:avLst>
              <a:gd name="adj" fmla="val 12308"/>
            </a:avLst>
          </a:prstGeom>
          <a:solidFill>
            <a:srgbClr val="1D1D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6060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606040"/>
            <a:ext cx="463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Logistics: pedidos, risco, recálculo, reagendamento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8728" y="2606040"/>
            <a:ext cx="5364328" cy="594360"/>
          </a:xfrm>
          <a:prstGeom prst="roundRect">
            <a:avLst>
              <a:gd name="adj" fmla="val 12308"/>
            </a:avLst>
          </a:prstGeom>
          <a:solidFill>
            <a:srgbClr val="1D1D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1608" y="26060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27368" y="2606040"/>
            <a:ext cx="463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de IA (online + fallback offline)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5364328" cy="594360"/>
          </a:xfrm>
          <a:prstGeom prst="roundRect">
            <a:avLst>
              <a:gd name="adj" fmla="val 12308"/>
            </a:avLst>
          </a:prstGeom>
          <a:solidFill>
            <a:srgbClr val="1D1D2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3832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383280"/>
            <a:ext cx="463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impacto — no app (cidadão) e no dashboard (parceiro)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78728" y="3383280"/>
            <a:ext cx="5364328" cy="594360"/>
          </a:xfrm>
          <a:prstGeom prst="roundRect">
            <a:avLst>
              <a:gd name="adj" fmla="val 12308"/>
            </a:avLst>
          </a:prstGeom>
          <a:solidFill>
            <a:srgbClr val="1D1D2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61608" y="33832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27368" y="3383280"/>
            <a:ext cx="463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administrativo Angular consumindo a mesma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1E181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3035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evolução (escopo consciente, não pendência):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 de recomendação já roda com filtragem colaborativa real; o próximo passo é alimentá-lo com volume de uso real em produção e evoluir a detecção de sazonalidade para o mesmo padrão.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669280" cy="5669280"/>
          </a:xfrm>
          <a:prstGeom prst="ellipse">
            <a:avLst/>
          </a:prstGeom>
          <a:solidFill>
            <a:srgbClr val="23232F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COMPETITIVO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essa solução é diferente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743200" cy="566928"/>
          </a:xfrm>
          <a:prstGeom prst="rect">
            <a:avLst/>
          </a:prstGeom>
          <a:solidFill>
            <a:srgbClr val="111119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78308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9272" y="1783080"/>
            <a:ext cx="2834640" cy="566928"/>
          </a:xfrm>
          <a:prstGeom prst="rect">
            <a:avLst/>
          </a:prstGeom>
          <a:solidFill>
            <a:srgbClr val="111119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78308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de inclusão genéricos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1344" y="1783080"/>
            <a:ext cx="2834640" cy="566928"/>
          </a:xfrm>
          <a:prstGeom prst="rect">
            <a:avLst/>
          </a:prstGeom>
          <a:solidFill>
            <a:srgbClr val="111119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1072" y="178308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Centrais de rastreio logístico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43416" y="1783080"/>
            <a:ext cx="2651760" cy="566928"/>
          </a:xfrm>
          <a:prstGeom prst="rect">
            <a:avLst/>
          </a:prstGeom>
          <a:solidFill>
            <a:srgbClr val="ED0973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53144" y="178308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360 + AI Logistics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350008"/>
            <a:ext cx="2743200" cy="566928"/>
          </a:xfrm>
          <a:prstGeom prst="rect">
            <a:avLst/>
          </a:prstGeom>
          <a:solidFill>
            <a:srgbClr val="23232F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235000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Acessível p/ baixo letramento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19272" y="2350008"/>
            <a:ext cx="2834640" cy="566928"/>
          </a:xfrm>
          <a:prstGeom prst="rect">
            <a:avLst/>
          </a:prstGeom>
          <a:solidFill>
            <a:srgbClr val="23232F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2350008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81344" y="2350008"/>
            <a:ext cx="2834640" cy="566928"/>
          </a:xfrm>
          <a:prstGeom prst="rect">
            <a:avLst/>
          </a:prstGeom>
          <a:solidFill>
            <a:srgbClr val="23232F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91072" y="2350008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aplica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43416" y="2350008"/>
            <a:ext cx="2651760" cy="566928"/>
          </a:xfrm>
          <a:prstGeom prst="rect">
            <a:avLst/>
          </a:prstGeom>
          <a:solidFill>
            <a:srgbClr val="2A1030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53144" y="2350008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0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— desenho nativo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916936"/>
            <a:ext cx="2743200" cy="566928"/>
          </a:xfrm>
          <a:prstGeom prst="rect">
            <a:avLst/>
          </a:prstGeom>
          <a:solidFill>
            <a:srgbClr val="23232F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291693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offline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19272" y="2916936"/>
            <a:ext cx="2834640" cy="566928"/>
          </a:xfrm>
          <a:prstGeom prst="rect">
            <a:avLst/>
          </a:prstGeom>
          <a:solidFill>
            <a:srgbClr val="23232F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2916936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Raramente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81344" y="2916936"/>
            <a:ext cx="2834640" cy="566928"/>
          </a:xfrm>
          <a:prstGeom prst="rect">
            <a:avLst/>
          </a:prstGeom>
          <a:solidFill>
            <a:srgbClr val="23232F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91072" y="2916936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aplica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43416" y="2916936"/>
            <a:ext cx="2651760" cy="566928"/>
          </a:xfrm>
          <a:prstGeom prst="rect">
            <a:avLst/>
          </a:prstGeom>
          <a:solidFill>
            <a:srgbClr val="2A1030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53144" y="2916936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0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— offline-first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483864"/>
            <a:ext cx="2743200" cy="566928"/>
          </a:xfrm>
          <a:prstGeom prst="rect">
            <a:avLst/>
          </a:prstGeom>
          <a:solidFill>
            <a:srgbClr val="23232F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3483864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focada em exceções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19272" y="3483864"/>
            <a:ext cx="2834640" cy="566928"/>
          </a:xfrm>
          <a:prstGeom prst="rect">
            <a:avLst/>
          </a:prstGeom>
          <a:solidFill>
            <a:srgbClr val="23232F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29000" y="3483864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81344" y="3483864"/>
            <a:ext cx="2834640" cy="566928"/>
          </a:xfrm>
          <a:prstGeom prst="rect">
            <a:avLst/>
          </a:prstGeom>
          <a:solidFill>
            <a:srgbClr val="23232F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91072" y="3483864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43416" y="3483864"/>
            <a:ext cx="2651760" cy="566928"/>
          </a:xfrm>
          <a:prstGeom prst="rect">
            <a:avLst/>
          </a:prstGeom>
          <a:solidFill>
            <a:srgbClr val="2A1030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53144" y="348386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0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— foco em picos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050792"/>
            <a:ext cx="2743200" cy="566928"/>
          </a:xfrm>
          <a:prstGeom prst="rect">
            <a:avLst/>
          </a:prstGeom>
          <a:solidFill>
            <a:srgbClr val="23232F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" y="405079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inclusão + logística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19272" y="4050792"/>
            <a:ext cx="2834640" cy="566928"/>
          </a:xfrm>
          <a:prstGeom prst="rect">
            <a:avLst/>
          </a:prstGeom>
          <a:solidFill>
            <a:srgbClr val="23232F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429000" y="405079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81344" y="4050792"/>
            <a:ext cx="2834640" cy="566928"/>
          </a:xfrm>
          <a:prstGeom prst="rect">
            <a:avLst/>
          </a:prstGeom>
          <a:solidFill>
            <a:srgbClr val="23232F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91072" y="405079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043416" y="4050792"/>
            <a:ext cx="2651760" cy="566928"/>
          </a:xfrm>
          <a:prstGeom prst="rect">
            <a:avLst/>
          </a:prstGeom>
          <a:solidFill>
            <a:srgbClr val="2A1030"/>
          </a:solidFill>
          <a:ln w="12700">
            <a:solidFill>
              <a:srgbClr val="14141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153144" y="405079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0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— único no segmento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651760"/>
            <a:ext cx="5486400" cy="5486400"/>
          </a:xfrm>
          <a:prstGeom prst="ellipse">
            <a:avLst/>
          </a:prstGeom>
          <a:solidFill>
            <a:srgbClr val="23232F">
              <a:alpha val="6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 e inclusão,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andando juntas.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 Leroy Merlin, isso significa levar a mesma confiabilidade de uma entrega logística de qualidade pra jornada de inclusão digital de milhões de pessoas — transformando um problema social em um canal de relacionamento pós-venda acessível.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isso que torna essa solução relevante como produto — não só como projeto acadêmico.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669280" cy="5669280"/>
          </a:xfrm>
          <a:prstGeom prst="ellipse">
            <a:avLst/>
          </a:prstGeom>
          <a:solidFill>
            <a:srgbClr val="23232F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construiu o Digital 360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86582" y="1828800"/>
            <a:ext cx="1143000" cy="1143000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02" y="1874520"/>
            <a:ext cx="1051560" cy="1051560"/>
          </a:xfrm>
          <a:prstGeom prst="ellipse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063240"/>
            <a:ext cx="2036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Andrade Martins Vasques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52044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556970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05465" y="1828800"/>
            <a:ext cx="1143000" cy="1143000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185" y="1874520"/>
            <a:ext cx="1051560" cy="1051560"/>
          </a:xfrm>
          <a:prstGeom prst="ellipse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58963" y="3063240"/>
            <a:ext cx="2036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Otávio Ramos dos Santos Souza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2858963" y="352044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550361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524348" y="1828800"/>
            <a:ext cx="1143000" cy="1143000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068" y="1874520"/>
            <a:ext cx="1051560" cy="1051560"/>
          </a:xfrm>
          <a:prstGeom prst="ellipse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77846" y="3063240"/>
            <a:ext cx="2036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Enzo Miranda Ward de Paiva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5077846" y="352044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557632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743231" y="1828800"/>
            <a:ext cx="1143000" cy="1143000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8951" y="1874520"/>
            <a:ext cx="1051560" cy="1051560"/>
          </a:xfrm>
          <a:prstGeom prst="ellipse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296729" y="3063240"/>
            <a:ext cx="2036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Pinto de Albuquerque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7296729" y="352044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559136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9962114" y="1828800"/>
            <a:ext cx="1143000" cy="1143000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7834" y="1874520"/>
            <a:ext cx="1051560" cy="1051560"/>
          </a:xfrm>
          <a:prstGeom prst="ellipse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515612" y="3063240"/>
            <a:ext cx="2036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Leoni Vidigal Tibúrcio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9515612" y="352044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557500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48640" y="480060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1D1D28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822960" y="49377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NEXT 2026 (24/10, ARCA Spaces)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822960" y="530352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do grupo: não vamos expor o projeto nesta edição do NEXT.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23232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291840"/>
            <a:ext cx="4937760" cy="4937760"/>
          </a:xfrm>
          <a:prstGeom prst="ellipse">
            <a:avLst/>
          </a:prstGeom>
          <a:solidFill>
            <a:srgbClr val="1A1A2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774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D09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360 · SMART HAS AI LOGISTICS EXTENSION · ENTERPRISE CHALLENGE LEROY MERLIN · FIAP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2026-09-13T23:36:28Z</dcterms:created>
  <dcterms:modified xsi:type="dcterms:W3CDTF">2026-09-13T23:36:28Z</dcterms:modified>
</cp:coreProperties>
</file>