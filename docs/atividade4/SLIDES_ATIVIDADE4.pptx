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926080"/>
            <a:ext cx="6949440" cy="6949440"/>
          </a:xfrm>
          <a:prstGeom prst="ellipse">
            <a:avLst/>
          </a:prstGeom>
          <a:solidFill>
            <a:srgbClr val="23232F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194560" y="4480560"/>
            <a:ext cx="4023360" cy="4023360"/>
          </a:xfrm>
          <a:prstGeom prst="ellipse">
            <a:avLst/>
          </a:prstGeom>
          <a:solidFill>
            <a:srgbClr val="1A1A2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457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09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FIAP  ·  ENTERPRISE CHALLENGE  ·  ATIVIDADE 4  ·  2026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9144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4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360</a:t>
            </a:r>
            <a:endParaRPr lang="en-US" sz="5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3736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9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HAS: AI Logistics Extension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121408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Challenge · Leroy Merlin · Produto concluído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2880360"/>
            <a:ext cx="8595360" cy="1143000"/>
          </a:xfrm>
          <a:prstGeom prst="roundRect">
            <a:avLst>
              <a:gd name="adj" fmla="val 8000"/>
            </a:avLst>
          </a:prstGeom>
          <a:solidFill>
            <a:srgbClr val="1D1D2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3063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Vídeo (YouTube, não listado)   </a:t>
            </a:r>
            <a:pPr indent="0" marL="0">
              <a:buNone/>
            </a:pPr>
            <a:r>
              <a:rPr lang="en-US" sz="1300" i="1" dirty="0">
                <a:solidFill>
                  <a:srgbClr val="6E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[LINK DO VÍDEO: preencher após publicar]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5204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Repositório GitHub   </a:t>
            </a:r>
            <a:pPr indent="0" marL="0">
              <a:buNone/>
            </a:pPr>
            <a:r>
              <a:rPr lang="en-US" sz="13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github.com/DevRafonalde/digital360_flutter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232886" y="4626864"/>
            <a:ext cx="850392" cy="850392"/>
          </a:xfrm>
          <a:prstGeom prst="ellipse">
            <a:avLst/>
          </a:prstGeom>
          <a:ln w="19050">
            <a:solidFill>
              <a:srgbClr val="FF6B35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9462" y="4663440"/>
            <a:ext cx="777240" cy="777240"/>
          </a:xfrm>
          <a:prstGeom prst="ellipse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21792" y="5513832"/>
            <a:ext cx="20725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4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Eduardo Andrade Martins Vasques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21792" y="5897880"/>
            <a:ext cx="20725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556970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451769" y="4626864"/>
            <a:ext cx="850392" cy="850392"/>
          </a:xfrm>
          <a:prstGeom prst="ellipse">
            <a:avLst/>
          </a:prstGeom>
          <a:ln w="19050">
            <a:solidFill>
              <a:srgbClr val="FF6B35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8345" y="4663440"/>
            <a:ext cx="777240" cy="777240"/>
          </a:xfrm>
          <a:prstGeom prst="ellipse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840675" y="5513832"/>
            <a:ext cx="20725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4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Otávio Ramos dos Santos Souza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2840675" y="5897880"/>
            <a:ext cx="20725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550361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5670652" y="4626864"/>
            <a:ext cx="850392" cy="850392"/>
          </a:xfrm>
          <a:prstGeom prst="ellipse">
            <a:avLst/>
          </a:prstGeom>
          <a:ln w="19050">
            <a:solidFill>
              <a:srgbClr val="FF6B35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7228" y="4663440"/>
            <a:ext cx="777240" cy="777240"/>
          </a:xfrm>
          <a:prstGeom prst="ellipse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059558" y="5513832"/>
            <a:ext cx="20725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4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Enzo Miranda Ward de Paiva</a:t>
            </a:r>
            <a:endParaRPr lang="en-US" sz="850" dirty="0"/>
          </a:p>
        </p:txBody>
      </p:sp>
      <p:sp>
        <p:nvSpPr>
          <p:cNvPr id="22" name="Text 17"/>
          <p:cNvSpPr txBox="1"/>
          <p:nvPr/>
        </p:nvSpPr>
        <p:spPr>
          <a:xfrm>
            <a:off x="5059558" y="5897880"/>
            <a:ext cx="20725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557632</a:t>
            </a:r>
            <a:endParaRPr lang="en-US" sz="850" dirty="0"/>
          </a:p>
        </p:txBody>
      </p:sp>
      <p:sp>
        <p:nvSpPr>
          <p:cNvPr id="23" name="Shape 18"/>
          <p:cNvSpPr/>
          <p:nvPr/>
        </p:nvSpPr>
        <p:spPr>
          <a:xfrm>
            <a:off x="7889535" y="4626864"/>
            <a:ext cx="850392" cy="850392"/>
          </a:xfrm>
          <a:prstGeom prst="ellipse">
            <a:avLst/>
          </a:prstGeom>
          <a:ln w="19050">
            <a:solidFill>
              <a:srgbClr val="FF6B35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6111" y="4663440"/>
            <a:ext cx="777240" cy="777240"/>
          </a:xfrm>
          <a:prstGeom prst="ellipse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278441" y="5513832"/>
            <a:ext cx="20725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4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Rafael Pinto de Albuquerque</a:t>
            </a:r>
            <a:endParaRPr lang="en-US" sz="850" dirty="0"/>
          </a:p>
        </p:txBody>
      </p:sp>
      <p:sp>
        <p:nvSpPr>
          <p:cNvPr id="26" name="Text 20"/>
          <p:cNvSpPr txBox="1"/>
          <p:nvPr/>
        </p:nvSpPr>
        <p:spPr>
          <a:xfrm>
            <a:off x="7278441" y="5897880"/>
            <a:ext cx="20725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559136</a:t>
            </a:r>
            <a:endParaRPr lang="en-US" sz="850" dirty="0"/>
          </a:p>
        </p:txBody>
      </p:sp>
      <p:sp>
        <p:nvSpPr>
          <p:cNvPr id="27" name="Shape 21"/>
          <p:cNvSpPr/>
          <p:nvPr/>
        </p:nvSpPr>
        <p:spPr>
          <a:xfrm>
            <a:off x="10108418" y="4626864"/>
            <a:ext cx="850392" cy="850392"/>
          </a:xfrm>
          <a:prstGeom prst="ellipse">
            <a:avLst/>
          </a:prstGeom>
          <a:ln w="19050">
            <a:solidFill>
              <a:srgbClr val="FF6B35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4994" y="4663440"/>
            <a:ext cx="777240" cy="777240"/>
          </a:xfrm>
          <a:prstGeom prst="ellipse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497324" y="5513832"/>
            <a:ext cx="20725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4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Guilherme Leoni Vidigal Tibúrcio</a:t>
            </a:r>
            <a:endParaRPr lang="en-US" sz="850" dirty="0"/>
          </a:p>
        </p:txBody>
      </p:sp>
      <p:sp>
        <p:nvSpPr>
          <p:cNvPr id="30" name="Text 23"/>
          <p:cNvSpPr txBox="1"/>
          <p:nvPr/>
        </p:nvSpPr>
        <p:spPr>
          <a:xfrm>
            <a:off x="9497324" y="5897880"/>
            <a:ext cx="20725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557500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82735" y="-2377440"/>
            <a:ext cx="5669280" cy="5669280"/>
          </a:xfrm>
          <a:prstGeom prst="ellipse">
            <a:avLst/>
          </a:prstGeom>
          <a:solidFill>
            <a:srgbClr val="23232F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1185855" y="640080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5720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4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Exclusão digital encontra logística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3736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9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Milhões de idosos e pessoas com baixa escolaridade não conseguem acessar serviços públicos essenciais. Quando conseguem, não têm como acompanhar se o suporte ou o pedido que precisam realmente chegou até eles.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3703320"/>
            <a:ext cx="6126480" cy="1371600"/>
          </a:xfrm>
          <a:prstGeom prst="roundRect">
            <a:avLst>
              <a:gd name="adj" fmla="val 5333"/>
            </a:avLst>
          </a:prstGeom>
          <a:solidFill>
            <a:srgbClr val="1D1D28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840480"/>
            <a:ext cx="5577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4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desafio do Enterprise Challenge:  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Logística Inteligente e Experiência de Entrega 5.0 sobre essa jornada: o conteúdo certo, ao usuário certo, no momento certo.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040880" y="1737360"/>
            <a:ext cx="4602175" cy="1143000"/>
          </a:xfrm>
          <a:prstGeom prst="roundRect">
            <a:avLst>
              <a:gd name="adj" fmla="val 6400"/>
            </a:avLst>
          </a:prstGeom>
          <a:solidFill>
            <a:srgbClr val="1D1D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269480" y="18745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D9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30M+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0" y="1737360"/>
            <a:ext cx="23161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idosos no Brasil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040880" y="3108960"/>
            <a:ext cx="4602175" cy="1143000"/>
          </a:xfrm>
          <a:prstGeom prst="roundRect">
            <a:avLst>
              <a:gd name="adj" fmla="val 6400"/>
            </a:avLst>
          </a:prstGeom>
          <a:solidFill>
            <a:srgbClr val="1D1D2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69480" y="32461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6B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em 3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0" y="3108960"/>
            <a:ext cx="23161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baixo letramento digital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040880" y="4480560"/>
            <a:ext cx="4602175" cy="1143000"/>
          </a:xfrm>
          <a:prstGeom prst="roundRect">
            <a:avLst>
              <a:gd name="adj" fmla="val 6400"/>
            </a:avLst>
          </a:prstGeom>
          <a:solidFill>
            <a:srgbClr val="1D1D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269480" y="46177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D09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0" y="4480560"/>
            <a:ext cx="23161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entregas precisam de rastreabilidade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82735" y="-2377440"/>
            <a:ext cx="5669280" cy="5669280"/>
          </a:xfrm>
          <a:prstGeom prst="ellipse">
            <a:avLst/>
          </a:prstGeom>
          <a:solidFill>
            <a:srgbClr val="23232F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1185855" y="640080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5720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D09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4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360 + AI Logistics Extension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3515258" cy="3291840"/>
          </a:xfrm>
          <a:prstGeom prst="roundRect">
            <a:avLst>
              <a:gd name="adj" fmla="val 2778"/>
            </a:avLst>
          </a:prstGeom>
          <a:solidFill>
            <a:srgbClr val="1D1D28"/>
          </a:solidFill>
          <a:ln w="19050">
            <a:solidFill>
              <a:srgbClr val="00D9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194560"/>
            <a:ext cx="457200" cy="457200"/>
          </a:xfrm>
          <a:prstGeom prst="ellipse">
            <a:avLst/>
          </a:prstGeom>
          <a:solidFill>
            <a:srgbClr val="00D9A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880360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4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Logística de Informação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566160"/>
            <a:ext cx="296661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9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 certo, usuário certo, momento certo, online ou offline.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38218" y="1920240"/>
            <a:ext cx="3515258" cy="3291840"/>
          </a:xfrm>
          <a:prstGeom prst="roundRect">
            <a:avLst>
              <a:gd name="adj" fmla="val 2778"/>
            </a:avLst>
          </a:prstGeom>
          <a:solidFill>
            <a:srgbClr val="1D1D28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2538" y="2194560"/>
            <a:ext cx="457200" cy="45720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12538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612538" y="2880360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4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Experiência de Entrega 5.0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12538" y="3566160"/>
            <a:ext cx="296661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9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jornada de inclusão tratada como uma cadeia logística de valor, com rastreamento e proatividade.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920240"/>
            <a:ext cx="3515258" cy="3291840"/>
          </a:xfrm>
          <a:prstGeom prst="roundRect">
            <a:avLst>
              <a:gd name="adj" fmla="val 2778"/>
            </a:avLst>
          </a:prstGeom>
          <a:solidFill>
            <a:srgbClr val="1D1D28"/>
          </a:solidFill>
          <a:ln w="19050">
            <a:solidFill>
              <a:srgbClr val="ED097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02117" y="2194560"/>
            <a:ext cx="457200" cy="457200"/>
          </a:xfrm>
          <a:prstGeom prst="ellipse">
            <a:avLst/>
          </a:prstGeom>
          <a:solidFill>
            <a:srgbClr val="ED097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02117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402117" y="2880360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4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orientada a Exceções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402117" y="3566160"/>
            <a:ext cx="296661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9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computacional concentrado nos picos e cenários de alta variabilidade, onde o impacto é maior.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82735" y="-2377440"/>
            <a:ext cx="5669280" cy="5669280"/>
          </a:xfrm>
          <a:prstGeom prst="ellipse">
            <a:avLst/>
          </a:prstGeom>
          <a:solidFill>
            <a:srgbClr val="23232F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1185855" y="640080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5720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4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compõe o ecossistema hoje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73152" cy="3566160"/>
          </a:xfrm>
          <a:prstGeom prst="rect">
            <a:avLst/>
          </a:prstGeom>
          <a:solidFill>
            <a:srgbClr val="00D9A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1920240"/>
            <a:ext cx="2339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4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Flutter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97480"/>
            <a:ext cx="233926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 do cidadão: trilhas com módulos reais, guia de serviços, AI Logistics, assistente de IA.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90824" y="1920240"/>
            <a:ext cx="73152" cy="356616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19424" y="1920240"/>
            <a:ext cx="2339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4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Python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619424" y="2697480"/>
            <a:ext cx="233926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original do app: hospeda os motores de IA (detalhes no próximo slide).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33008" y="1920240"/>
            <a:ext cx="73152" cy="3566160"/>
          </a:xfrm>
          <a:prstGeom prst="rect">
            <a:avLst/>
          </a:prstGeom>
          <a:solidFill>
            <a:srgbClr val="ED097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61608" y="1920240"/>
            <a:ext cx="2339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4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Java / Spring Boot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61608" y="2697480"/>
            <a:ext cx="233926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endpoints, JWT, H2, Swagger. Mesma camada de AI Logistics exposta com robustez.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075191" y="1920240"/>
            <a:ext cx="73152" cy="3566160"/>
          </a:xfrm>
          <a:prstGeom prst="rect">
            <a:avLst/>
          </a:prstGeom>
          <a:solidFill>
            <a:srgbClr val="9A9AA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303791" y="1920240"/>
            <a:ext cx="2339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4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Angular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303791" y="2697480"/>
            <a:ext cx="233926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administrativo para a operação: pedidos, cursos, serviços e impacto.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único ecossistema, dois pontos de entrada: o cidadão no app, a operação no painel.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82735" y="-2377440"/>
            <a:ext cx="5669280" cy="5669280"/>
          </a:xfrm>
          <a:prstGeom prst="ellipse">
            <a:avLst/>
          </a:prstGeom>
          <a:solidFill>
            <a:srgbClr val="23232F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1185855" y="640080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5720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D09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LOGISTICS EXTENSION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4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 valor está sendo gerado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1094415" cy="1188720"/>
          </a:xfrm>
          <a:prstGeom prst="roundRect">
            <a:avLst>
              <a:gd name="adj" fmla="val 6154"/>
            </a:avLst>
          </a:prstGeom>
          <a:solidFill>
            <a:srgbClr val="1D1D28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828800"/>
            <a:ext cx="82296" cy="1188720"/>
          </a:xfrm>
          <a:prstGeom prst="rect">
            <a:avLst/>
          </a:prstGeom>
          <a:solidFill>
            <a:srgbClr val="00D9A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6596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4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Recomendação (ML real)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1920240"/>
            <a:ext cx="6522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Filtragem colaborativa item a item (similaridade de cosseno) quando há uso de mais de um usuário; heurística de frequência/novidade como fallback quando não há dado suficiente. Testado.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246120"/>
            <a:ext cx="11094415" cy="1188720"/>
          </a:xfrm>
          <a:prstGeom prst="roundRect">
            <a:avLst>
              <a:gd name="adj" fmla="val 6154"/>
            </a:avLst>
          </a:prstGeom>
          <a:solidFill>
            <a:srgbClr val="1D1D28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3246120"/>
            <a:ext cx="82296" cy="118872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33832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4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Detecção de Picos e Sazonalidade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3337560"/>
            <a:ext cx="6522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o volume recente de uso por categoria contra a média histórica (regra estatística) e sinaliza picos de demanda.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663440"/>
            <a:ext cx="11094415" cy="1188720"/>
          </a:xfrm>
          <a:prstGeom prst="roundRect">
            <a:avLst>
              <a:gd name="adj" fmla="val 6154"/>
            </a:avLst>
          </a:prstGeom>
          <a:solidFill>
            <a:srgbClr val="1D1D28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4663440"/>
            <a:ext cx="82296" cy="1188720"/>
          </a:xfrm>
          <a:prstGeom prst="rect">
            <a:avLst/>
          </a:prstGeom>
          <a:solidFill>
            <a:srgbClr val="ED097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48006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4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 da Jornada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4754880"/>
            <a:ext cx="6522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mostra ao usuário onde está, o que conquistou e o próximo passo, o mesmo princípio de rastreio de um pedido logístico.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82735" y="-2377440"/>
            <a:ext cx="5669280" cy="5669280"/>
          </a:xfrm>
          <a:prstGeom prst="ellipse">
            <a:avLst/>
          </a:prstGeom>
          <a:solidFill>
            <a:srgbClr val="23232F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1185855" y="640080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5720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 CONCLUÍDO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4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está pronto e funcionando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5364328" cy="594360"/>
          </a:xfrm>
          <a:prstGeom prst="roundRect">
            <a:avLst>
              <a:gd name="adj" fmla="val 12308"/>
            </a:avLst>
          </a:prstGeom>
          <a:solidFill>
            <a:srgbClr val="1D1D2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1828800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828800"/>
            <a:ext cx="46328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Trilhas com módulos reais e certificado personalizado em PDF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78728" y="1828800"/>
            <a:ext cx="5364328" cy="594360"/>
          </a:xfrm>
          <a:prstGeom prst="roundRect">
            <a:avLst>
              <a:gd name="adj" fmla="val 12308"/>
            </a:avLst>
          </a:prstGeom>
          <a:solidFill>
            <a:srgbClr val="1D1D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61608" y="1828800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827368" y="1828800"/>
            <a:ext cx="46328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Guia de serviços, incluindo direitos do idoso (Estatuto do Idoso)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606040"/>
            <a:ext cx="5364328" cy="594360"/>
          </a:xfrm>
          <a:prstGeom prst="roundRect">
            <a:avLst>
              <a:gd name="adj" fmla="val 12308"/>
            </a:avLst>
          </a:prstGeom>
          <a:solidFill>
            <a:srgbClr val="1D1D2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2606040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2606040"/>
            <a:ext cx="46328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Logistics: pedidos, risco, recálculo, reagendamento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8728" y="2606040"/>
            <a:ext cx="5364328" cy="594360"/>
          </a:xfrm>
          <a:prstGeom prst="roundRect">
            <a:avLst>
              <a:gd name="adj" fmla="val 12308"/>
            </a:avLst>
          </a:prstGeom>
          <a:solidFill>
            <a:srgbClr val="1D1D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606040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827368" y="2606040"/>
            <a:ext cx="46328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Assistente de IA (online + fallback offline)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3383280"/>
            <a:ext cx="5364328" cy="594360"/>
          </a:xfrm>
          <a:prstGeom prst="roundRect">
            <a:avLst>
              <a:gd name="adj" fmla="val 12308"/>
            </a:avLst>
          </a:prstGeom>
          <a:solidFill>
            <a:srgbClr val="1D1D2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3383280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3383280"/>
            <a:ext cx="46328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impacto: no app (cidadão) e no dashboard (parceiro)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78728" y="3383280"/>
            <a:ext cx="5364328" cy="594360"/>
          </a:xfrm>
          <a:prstGeom prst="roundRect">
            <a:avLst>
              <a:gd name="adj" fmla="val 12308"/>
            </a:avLst>
          </a:prstGeom>
          <a:solidFill>
            <a:srgbClr val="1D1D2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61608" y="3383280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827368" y="3383280"/>
            <a:ext cx="46328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administrativo Angular consumindo a mesma API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16636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1E1810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" y="530352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F4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evolução (escopo consciente, não pendência):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motor de recomendação já roda com filtragem colaborativa real; o próximo passo é alimentá-lo com volume de uso real em produção e evoluir a detecção de sazonalidade para o mesmo padrão.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82735" y="-2377440"/>
            <a:ext cx="5669280" cy="5669280"/>
          </a:xfrm>
          <a:prstGeom prst="ellipse">
            <a:avLst/>
          </a:prstGeom>
          <a:solidFill>
            <a:srgbClr val="23232F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1185855" y="640080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5720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COMPETITIVO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4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essa solução é diferente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2743200" cy="566928"/>
          </a:xfrm>
          <a:prstGeom prst="rect">
            <a:avLst/>
          </a:prstGeom>
          <a:solidFill>
            <a:srgbClr val="111119"/>
          </a:solidFill>
          <a:ln w="12700">
            <a:solidFill>
              <a:srgbClr val="14141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783080"/>
            <a:ext cx="2523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19272" y="1783080"/>
            <a:ext cx="2834640" cy="566928"/>
          </a:xfrm>
          <a:prstGeom prst="rect">
            <a:avLst/>
          </a:prstGeom>
          <a:solidFill>
            <a:srgbClr val="111119"/>
          </a:solidFill>
          <a:ln w="12700">
            <a:solidFill>
              <a:srgbClr val="14141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783080"/>
            <a:ext cx="2615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de inclusão genéricos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81344" y="1783080"/>
            <a:ext cx="2834640" cy="566928"/>
          </a:xfrm>
          <a:prstGeom prst="rect">
            <a:avLst/>
          </a:prstGeom>
          <a:solidFill>
            <a:srgbClr val="111119"/>
          </a:solidFill>
          <a:ln w="12700">
            <a:solidFill>
              <a:srgbClr val="14141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91072" y="1783080"/>
            <a:ext cx="2615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Centrais de rastreio logístico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043416" y="1783080"/>
            <a:ext cx="2651760" cy="566928"/>
          </a:xfrm>
          <a:prstGeom prst="rect">
            <a:avLst/>
          </a:prstGeom>
          <a:solidFill>
            <a:srgbClr val="ED0973"/>
          </a:solidFill>
          <a:ln w="12700">
            <a:solidFill>
              <a:srgbClr val="14141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53144" y="1783080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360 + AI Logistics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2350008"/>
            <a:ext cx="2743200" cy="566928"/>
          </a:xfrm>
          <a:prstGeom prst="rect">
            <a:avLst/>
          </a:prstGeom>
          <a:solidFill>
            <a:srgbClr val="23232F"/>
          </a:solidFill>
          <a:ln w="12700">
            <a:solidFill>
              <a:srgbClr val="14141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2350008"/>
            <a:ext cx="2523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Acessível p/ baixo letramento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19272" y="2350008"/>
            <a:ext cx="2834640" cy="566928"/>
          </a:xfrm>
          <a:prstGeom prst="rect">
            <a:avLst/>
          </a:prstGeom>
          <a:solidFill>
            <a:srgbClr val="23232F"/>
          </a:solidFill>
          <a:ln w="12700">
            <a:solidFill>
              <a:srgbClr val="14141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429000" y="2350008"/>
            <a:ext cx="2615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Parcial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181344" y="2350008"/>
            <a:ext cx="2834640" cy="566928"/>
          </a:xfrm>
          <a:prstGeom prst="rect">
            <a:avLst/>
          </a:prstGeom>
          <a:solidFill>
            <a:srgbClr val="23232F"/>
          </a:solidFill>
          <a:ln w="12700">
            <a:solidFill>
              <a:srgbClr val="14141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91072" y="2350008"/>
            <a:ext cx="2615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se aplica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043416" y="2350008"/>
            <a:ext cx="2651760" cy="566928"/>
          </a:xfrm>
          <a:prstGeom prst="rect">
            <a:avLst/>
          </a:prstGeom>
          <a:solidFill>
            <a:srgbClr val="2A1030"/>
          </a:solidFill>
          <a:ln w="12700">
            <a:solidFill>
              <a:srgbClr val="14141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53144" y="2350008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D09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Sim, desenho nativo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2916936"/>
            <a:ext cx="2743200" cy="566928"/>
          </a:xfrm>
          <a:prstGeom prst="rect">
            <a:avLst/>
          </a:prstGeom>
          <a:solidFill>
            <a:srgbClr val="23232F"/>
          </a:solidFill>
          <a:ln w="12700">
            <a:solidFill>
              <a:srgbClr val="14141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8368" y="2916936"/>
            <a:ext cx="2523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offline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19272" y="2916936"/>
            <a:ext cx="2834640" cy="566928"/>
          </a:xfrm>
          <a:prstGeom prst="rect">
            <a:avLst/>
          </a:prstGeom>
          <a:solidFill>
            <a:srgbClr val="23232F"/>
          </a:solidFill>
          <a:ln w="12700">
            <a:solidFill>
              <a:srgbClr val="14141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429000" y="2916936"/>
            <a:ext cx="2615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Raramente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181344" y="2916936"/>
            <a:ext cx="2834640" cy="566928"/>
          </a:xfrm>
          <a:prstGeom prst="rect">
            <a:avLst/>
          </a:prstGeom>
          <a:solidFill>
            <a:srgbClr val="23232F"/>
          </a:solidFill>
          <a:ln w="12700">
            <a:solidFill>
              <a:srgbClr val="14141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91072" y="2916936"/>
            <a:ext cx="2615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se aplica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043416" y="2916936"/>
            <a:ext cx="2651760" cy="566928"/>
          </a:xfrm>
          <a:prstGeom prst="rect">
            <a:avLst/>
          </a:prstGeom>
          <a:solidFill>
            <a:srgbClr val="2A1030"/>
          </a:solidFill>
          <a:ln w="12700">
            <a:solidFill>
              <a:srgbClr val="14141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153144" y="2916936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D09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Sim, offline-first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3483864"/>
            <a:ext cx="2743200" cy="566928"/>
          </a:xfrm>
          <a:prstGeom prst="rect">
            <a:avLst/>
          </a:prstGeom>
          <a:solidFill>
            <a:srgbClr val="23232F"/>
          </a:solidFill>
          <a:ln w="12700">
            <a:solidFill>
              <a:srgbClr val="14141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58368" y="3483864"/>
            <a:ext cx="2523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focada em exceções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319272" y="3483864"/>
            <a:ext cx="2834640" cy="566928"/>
          </a:xfrm>
          <a:prstGeom prst="rect">
            <a:avLst/>
          </a:prstGeom>
          <a:solidFill>
            <a:srgbClr val="23232F"/>
          </a:solidFill>
          <a:ln w="12700">
            <a:solidFill>
              <a:srgbClr val="14141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429000" y="3483864"/>
            <a:ext cx="2615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181344" y="3483864"/>
            <a:ext cx="2834640" cy="566928"/>
          </a:xfrm>
          <a:prstGeom prst="rect">
            <a:avLst/>
          </a:prstGeom>
          <a:solidFill>
            <a:srgbClr val="23232F"/>
          </a:solidFill>
          <a:ln w="12700">
            <a:solidFill>
              <a:srgbClr val="14141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291072" y="3483864"/>
            <a:ext cx="2615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9043416" y="3483864"/>
            <a:ext cx="2651760" cy="566928"/>
          </a:xfrm>
          <a:prstGeom prst="rect">
            <a:avLst/>
          </a:prstGeom>
          <a:solidFill>
            <a:srgbClr val="2A1030"/>
          </a:solidFill>
          <a:ln w="12700">
            <a:solidFill>
              <a:srgbClr val="14141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153144" y="3483864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D09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Sim, foco em picos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48640" y="4050792"/>
            <a:ext cx="2743200" cy="566928"/>
          </a:xfrm>
          <a:prstGeom prst="rect">
            <a:avLst/>
          </a:prstGeom>
          <a:solidFill>
            <a:srgbClr val="23232F"/>
          </a:solidFill>
          <a:ln w="12700">
            <a:solidFill>
              <a:srgbClr val="14141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58368" y="4050792"/>
            <a:ext cx="2523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inclusão + logística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3319272" y="4050792"/>
            <a:ext cx="2834640" cy="566928"/>
          </a:xfrm>
          <a:prstGeom prst="rect">
            <a:avLst/>
          </a:prstGeom>
          <a:solidFill>
            <a:srgbClr val="23232F"/>
          </a:solidFill>
          <a:ln w="12700">
            <a:solidFill>
              <a:srgbClr val="14141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429000" y="4050792"/>
            <a:ext cx="2615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181344" y="4050792"/>
            <a:ext cx="2834640" cy="566928"/>
          </a:xfrm>
          <a:prstGeom prst="rect">
            <a:avLst/>
          </a:prstGeom>
          <a:solidFill>
            <a:srgbClr val="23232F"/>
          </a:solidFill>
          <a:ln w="12700">
            <a:solidFill>
              <a:srgbClr val="14141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291072" y="4050792"/>
            <a:ext cx="2615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9043416" y="4050792"/>
            <a:ext cx="2651760" cy="566928"/>
          </a:xfrm>
          <a:prstGeom prst="rect">
            <a:avLst/>
          </a:prstGeom>
          <a:solidFill>
            <a:srgbClr val="2A1030"/>
          </a:solidFill>
          <a:ln w="12700">
            <a:solidFill>
              <a:srgbClr val="14141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153144" y="405079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D09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Sim, único no segmento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2651760"/>
            <a:ext cx="5486400" cy="5486400"/>
          </a:xfrm>
          <a:prstGeom prst="ellipse">
            <a:avLst/>
          </a:prstGeom>
          <a:solidFill>
            <a:srgbClr val="23232F">
              <a:alpha val="6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4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Tecnologia e inclusão,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4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andando juntas.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1460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i="1" dirty="0">
                <a:solidFill>
                  <a:srgbClr val="F4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 Leroy Merlin, isso significa levar a mesma confiabilidade de uma entrega logística de qualidade pra jornada de inclusão digital de milhões de pessoas, transformando um problema social em um canal de relacionamento pós-venda acessível.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2976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isso que torna essa solução relevante como produto, não só como projeto acadêmico.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82735" y="-2377440"/>
            <a:ext cx="5669280" cy="5669280"/>
          </a:xfrm>
          <a:prstGeom prst="ellipse">
            <a:avLst/>
          </a:prstGeom>
          <a:solidFill>
            <a:srgbClr val="23232F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1185855" y="640080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5720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4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construiu o Digital 360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86582" y="1828800"/>
            <a:ext cx="1143000" cy="1143000"/>
          </a:xfrm>
          <a:prstGeom prst="ellipse">
            <a:avLst/>
          </a:prstGeom>
          <a:ln w="19050">
            <a:solidFill>
              <a:srgbClr val="FF6B3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302" y="1874520"/>
            <a:ext cx="1051560" cy="1051560"/>
          </a:xfrm>
          <a:prstGeom prst="ellipse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3063240"/>
            <a:ext cx="20360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4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Eduardo Andrade Martins Vasques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3520440"/>
            <a:ext cx="20360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556970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305465" y="1828800"/>
            <a:ext cx="1143000" cy="1143000"/>
          </a:xfrm>
          <a:prstGeom prst="ellipse">
            <a:avLst/>
          </a:prstGeom>
          <a:ln w="19050">
            <a:solidFill>
              <a:srgbClr val="FF6B35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185" y="1874520"/>
            <a:ext cx="1051560" cy="1051560"/>
          </a:xfrm>
          <a:prstGeom prst="ellipse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858963" y="3063240"/>
            <a:ext cx="20360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4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Otávio Ramos dos Santos Souza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2858963" y="3520440"/>
            <a:ext cx="20360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550361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524348" y="1828800"/>
            <a:ext cx="1143000" cy="1143000"/>
          </a:xfrm>
          <a:prstGeom prst="ellipse">
            <a:avLst/>
          </a:prstGeom>
          <a:ln w="19050">
            <a:solidFill>
              <a:srgbClr val="FF6B35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8" y="1874520"/>
            <a:ext cx="1051560" cy="1051560"/>
          </a:xfrm>
          <a:prstGeom prst="ellipse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077846" y="3063240"/>
            <a:ext cx="20360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4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Enzo Miranda Ward de Paiva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5077846" y="3520440"/>
            <a:ext cx="20360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557632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7743231" y="1828800"/>
            <a:ext cx="1143000" cy="1143000"/>
          </a:xfrm>
          <a:prstGeom prst="ellipse">
            <a:avLst/>
          </a:prstGeom>
          <a:ln w="19050">
            <a:solidFill>
              <a:srgbClr val="FF6B35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8951" y="1874520"/>
            <a:ext cx="1051560" cy="1051560"/>
          </a:xfrm>
          <a:prstGeom prst="ellipse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296729" y="3063240"/>
            <a:ext cx="20360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4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Rafael Pinto de Albuquerque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7296729" y="3520440"/>
            <a:ext cx="20360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559136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9962114" y="1828800"/>
            <a:ext cx="1143000" cy="1143000"/>
          </a:xfrm>
          <a:prstGeom prst="ellipse">
            <a:avLst/>
          </a:prstGeom>
          <a:ln w="19050">
            <a:solidFill>
              <a:srgbClr val="FF6B35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7834" y="1874520"/>
            <a:ext cx="1051560" cy="1051560"/>
          </a:xfrm>
          <a:prstGeom prst="ellipse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515612" y="3063240"/>
            <a:ext cx="20360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4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Guilherme Leoni Vidigal Tibúrcio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9515612" y="3520440"/>
            <a:ext cx="20360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557500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548640" y="4800600"/>
            <a:ext cx="11094415" cy="1188720"/>
          </a:xfrm>
          <a:prstGeom prst="roundRect">
            <a:avLst>
              <a:gd name="adj" fmla="val 7692"/>
            </a:avLst>
          </a:prstGeom>
          <a:solidFill>
            <a:srgbClr val="1D1D28"/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822960" y="493776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FIAP NEXT 2026 (24/10, ARCA Spaces)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822960" y="530352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do grupo: não vamos expor o projeto nesta edição do NEXT.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377440" y="-2377440"/>
            <a:ext cx="5943600" cy="5943600"/>
          </a:xfrm>
          <a:prstGeom prst="ellipse">
            <a:avLst/>
          </a:prstGeom>
          <a:solidFill>
            <a:srgbClr val="23232F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3291840"/>
            <a:ext cx="4937760" cy="4937760"/>
          </a:xfrm>
          <a:prstGeom prst="ellipse">
            <a:avLst/>
          </a:prstGeom>
          <a:solidFill>
            <a:srgbClr val="1A1A2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237744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432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D09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Obrigado!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217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E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360 · SMART HAS AI LOGISTICS EXTENSION · ENTERPRISE CHALLENGE LEROY MERLIN · FIAP 2026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2026-09-13T23:44:18Z</dcterms:created>
  <dcterms:modified xsi:type="dcterms:W3CDTF">2026-09-13T23:44:18Z</dcterms:modified>
</cp:coreProperties>
</file>